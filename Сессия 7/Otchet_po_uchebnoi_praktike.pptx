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3" r:id="rId6"/>
    <p:sldId id="271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62" r:id="rId16"/>
    <p:sldId id="27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53" autoAdjust="0"/>
  </p:normalViewPr>
  <p:slideViewPr>
    <p:cSldViewPr>
      <p:cViewPr varScale="1">
        <p:scale>
          <a:sx n="60" d="100"/>
          <a:sy n="60" d="100"/>
        </p:scale>
        <p:origin x="78" y="10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EB5B1-0927-4448-A8BC-FA488532DF2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C214C-7B51-4D5E-B8D7-C469CB1E0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24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606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14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58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42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30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7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97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1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67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0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9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F8A3-FB47-419B-B922-FB495021C6E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5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5400" y="1700809"/>
            <a:ext cx="10945216" cy="189964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учебной практике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ПМ.02 Осуществление интеграции программных модулей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2657"/>
            <a:ext cx="8803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бюджетное учреждение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1864" y="630932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1DBC0EC8-FDED-D477-2684-3D9573E7A6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BD7BE1C-B01F-823D-AFE4-712C65A33E87}"/>
              </a:ext>
            </a:extLst>
          </p:cNvPr>
          <p:cNvSpPr/>
          <p:nvPr/>
        </p:nvSpPr>
        <p:spPr>
          <a:xfrm>
            <a:off x="7512606" y="3786106"/>
            <a:ext cx="4939188" cy="195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Выполнил</a:t>
            </a:r>
            <a:r>
              <a:rPr lang="en-US" sz="16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Исупов Дмитрий Андреевич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Группа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23П-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пециальность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09.02.07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«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Информационные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системы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и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программирование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Форма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обучения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очная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Руководитель</a:t>
            </a:r>
            <a:r>
              <a:rPr lang="en-US" sz="16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Калинин Арсений Олегович</a:t>
            </a:r>
            <a:endParaRPr lang="en-US" sz="1600" dirty="0"/>
          </a:p>
        </p:txBody>
      </p:sp>
      <p:pic>
        <p:nvPicPr>
          <p:cNvPr id="11" name="Picture 14" descr="touch-icon-ipad-retina">
            <a:extLst>
              <a:ext uri="{FF2B5EF4-FFF2-40B4-BE49-F238E27FC236}">
                <a16:creationId xmlns:a16="http://schemas.microsoft.com/office/drawing/2014/main" id="{32B953BD-91A1-EF69-41C2-3A26F36F3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248703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86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практики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71A1B05-5179-791D-06E5-0E766D5B0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096479"/>
              </p:ext>
            </p:extLst>
          </p:nvPr>
        </p:nvGraphicFramePr>
        <p:xfrm>
          <a:off x="1127448" y="1052736"/>
          <a:ext cx="10009112" cy="56166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004556">
                  <a:extLst>
                    <a:ext uri="{9D8B030D-6E8A-4147-A177-3AD203B41FA5}">
                      <a16:colId xmlns:a16="http://schemas.microsoft.com/office/drawing/2014/main" val="509164893"/>
                    </a:ext>
                  </a:extLst>
                </a:gridCol>
                <a:gridCol w="5004556">
                  <a:extLst>
                    <a:ext uri="{9D8B030D-6E8A-4147-A177-3AD203B41FA5}">
                      <a16:colId xmlns:a16="http://schemas.microsoft.com/office/drawing/2014/main" val="989058367"/>
                    </a:ext>
                  </a:extLst>
                </a:gridCol>
              </a:tblGrid>
              <a:tr h="518733">
                <a:tc>
                  <a:txBody>
                    <a:bodyPr/>
                    <a:lstStyle/>
                    <a:p>
                      <a:pPr marL="91440">
                        <a:spcBef>
                          <a:spcPts val="265"/>
                        </a:spcBef>
                        <a:buNone/>
                      </a:pPr>
                      <a:r>
                        <a:rPr lang="ru-RU" sz="18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65"/>
                        </a:spcBef>
                        <a:buNone/>
                      </a:pP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76511984"/>
                  </a:ext>
                </a:extLst>
              </a:tr>
              <a:tr h="858592">
                <a:tc>
                  <a:txBody>
                    <a:bodyPr/>
                    <a:lstStyle/>
                    <a:p>
                      <a:pPr marL="91440">
                        <a:spcBef>
                          <a:spcPts val="1115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050"/>
                        </a:lnSpc>
                        <a:spcBef>
                          <a:spcPts val="165"/>
                        </a:spcBef>
                        <a:buNone/>
                      </a:pP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КОГПОБУ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«Слободской</a:t>
                      </a:r>
                      <a:r>
                        <a:rPr lang="ru-RU" sz="18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колледж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2555">
                        <a:lnSpc>
                          <a:spcPts val="205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педагогики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социальных</a:t>
                      </a:r>
                      <a:r>
                        <a:rPr lang="ru-RU" sz="18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отношений»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952037"/>
                  </a:ext>
                </a:extLst>
              </a:tr>
              <a:tr h="536620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Адрес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г.</a:t>
                      </a:r>
                      <a:r>
                        <a:rPr lang="ru-RU" sz="18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Слободской,</a:t>
                      </a:r>
                      <a:r>
                        <a:rPr lang="ru-RU" sz="18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ул.</a:t>
                      </a:r>
                      <a:r>
                        <a:rPr lang="ru-RU" sz="18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Советская,</a:t>
                      </a:r>
                      <a:r>
                        <a:rPr lang="ru-RU" sz="18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д.</a:t>
                      </a:r>
                      <a:r>
                        <a:rPr lang="ru-RU" sz="1800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141670"/>
                  </a:ext>
                </a:extLst>
              </a:tr>
              <a:tr h="876480">
                <a:tc>
                  <a:txBody>
                    <a:bodyPr/>
                    <a:lstStyle/>
                    <a:p>
                      <a:pPr marL="91440">
                        <a:spcBef>
                          <a:spcPts val="122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Сфера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деятельности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045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Образование,</a:t>
                      </a:r>
                      <a:r>
                        <a:rPr lang="ru-RU" sz="1800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подготовка</a:t>
                      </a:r>
                      <a:r>
                        <a:rPr lang="ru-RU" sz="1800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IT-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2555">
                        <a:lnSpc>
                          <a:spcPts val="2045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специалистов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87928"/>
                  </a:ext>
                </a:extLst>
              </a:tr>
              <a:tr h="536620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ФИО</a:t>
                      </a:r>
                      <a:r>
                        <a:rPr lang="ru-RU" sz="18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программиста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Калинин</a:t>
                      </a:r>
                      <a:r>
                        <a:rPr lang="ru-RU" sz="18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Арсений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Олегович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66297"/>
                  </a:ext>
                </a:extLst>
              </a:tr>
              <a:tr h="536620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spc="-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программистов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825893"/>
                  </a:ext>
                </a:extLst>
              </a:tr>
              <a:tr h="876480">
                <a:tc>
                  <a:txBody>
                    <a:bodyPr/>
                    <a:lstStyle/>
                    <a:p>
                      <a:pPr marL="91440">
                        <a:spcBef>
                          <a:spcPts val="1220"/>
                        </a:spcBef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Должностные</a:t>
                      </a:r>
                      <a:r>
                        <a:rPr lang="ru-RU" sz="1800" spc="-6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обязанности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85000"/>
                        </a:lnSpc>
                        <a:spcBef>
                          <a:spcPts val="51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Руководство практикой, контроль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выполнения</a:t>
                      </a:r>
                      <a:r>
                        <a:rPr lang="ru-RU" sz="18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заданий,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консультация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043858"/>
                  </a:ext>
                </a:extLst>
              </a:tr>
              <a:tr h="876480">
                <a:tc>
                  <a:txBody>
                    <a:bodyPr/>
                    <a:lstStyle/>
                    <a:p>
                      <a:pPr marL="91440" marR="168910">
                        <a:lnSpc>
                          <a:spcPct val="85000"/>
                        </a:lnSpc>
                        <a:spcBef>
                          <a:spcPts val="515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r>
                        <a:rPr lang="ru-RU" sz="18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используемых программ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85000"/>
                        </a:lnSpc>
                        <a:spcBef>
                          <a:spcPts val="515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2022, SQL Server Management</a:t>
                      </a:r>
                      <a:r>
                        <a:rPr lang="ru-RU" sz="1800" spc="-8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Studio,</a:t>
                      </a:r>
                      <a:r>
                        <a:rPr lang="ru-RU" sz="1800" spc="-6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8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Postman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800" spc="-6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Figma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14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58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0542" y="0"/>
            <a:ext cx="109728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практики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CB99224-58AA-F725-496D-5BC08A757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024201"/>
              </p:ext>
            </p:extLst>
          </p:nvPr>
        </p:nvGraphicFramePr>
        <p:xfrm>
          <a:off x="1055440" y="980728"/>
          <a:ext cx="10081120" cy="568862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8739">
                  <a:extLst>
                    <a:ext uri="{9D8B030D-6E8A-4147-A177-3AD203B41FA5}">
                      <a16:colId xmlns:a16="http://schemas.microsoft.com/office/drawing/2014/main" val="2061436974"/>
                    </a:ext>
                  </a:extLst>
                </a:gridCol>
                <a:gridCol w="7276591">
                  <a:extLst>
                    <a:ext uri="{9D8B030D-6E8A-4147-A177-3AD203B41FA5}">
                      <a16:colId xmlns:a16="http://schemas.microsoft.com/office/drawing/2014/main" val="2787470248"/>
                    </a:ext>
                  </a:extLst>
                </a:gridCol>
                <a:gridCol w="1965790">
                  <a:extLst>
                    <a:ext uri="{9D8B030D-6E8A-4147-A177-3AD203B41FA5}">
                      <a16:colId xmlns:a16="http://schemas.microsoft.com/office/drawing/2014/main" val="1086291828"/>
                    </a:ext>
                  </a:extLst>
                </a:gridCol>
              </a:tblGrid>
              <a:tr h="365696">
                <a:tc>
                  <a:txBody>
                    <a:bodyPr/>
                    <a:lstStyle/>
                    <a:p>
                      <a:pPr marL="91440">
                        <a:spcBef>
                          <a:spcPts val="265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spcBef>
                          <a:spcPts val="265"/>
                        </a:spcBef>
                        <a:buNone/>
                      </a:pPr>
                      <a:r>
                        <a:rPr lang="ru-RU" sz="1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Задание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265"/>
                        </a:spcBef>
                        <a:buNone/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Срок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47586714"/>
                  </a:ext>
                </a:extLst>
              </a:tr>
              <a:tr h="653807">
                <a:tc>
                  <a:txBody>
                    <a:bodyPr/>
                    <a:lstStyle/>
                    <a:p>
                      <a:pPr marL="91440">
                        <a:spcBef>
                          <a:spcPts val="1210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2045"/>
                        </a:lnSpc>
                        <a:spcBef>
                          <a:spcPts val="260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</a:t>
                      </a:r>
                      <a:r>
                        <a:rPr lang="ru-RU" sz="1400" spc="-3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предметной</a:t>
                      </a:r>
                      <a:r>
                        <a:rPr lang="ru-RU" sz="14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области</a:t>
                      </a:r>
                      <a:r>
                        <a:rPr lang="ru-RU" sz="14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lang="ru-RU" sz="14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1920">
                        <a:lnSpc>
                          <a:spcPts val="2045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БД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1210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1-2</a:t>
                      </a:r>
                      <a:r>
                        <a:rPr lang="ru-RU" sz="14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37392599"/>
                  </a:ext>
                </a:extLst>
              </a:tr>
              <a:tr h="681248">
                <a:tc>
                  <a:txBody>
                    <a:bodyPr/>
                    <a:lstStyle/>
                    <a:p>
                      <a:pPr marL="91440">
                        <a:spcBef>
                          <a:spcPts val="1310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2050"/>
                        </a:lnSpc>
                        <a:spcBef>
                          <a:spcPts val="360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r>
                        <a:rPr lang="ru-RU" sz="1400" spc="-9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ru-RU" sz="14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AgroControlAPI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ru-RU" sz="1400" spc="-9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</a:t>
                      </a:r>
                      <a:r>
                        <a:rPr lang="ru-RU" sz="1400" spc="-9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ASP.NET</a:t>
                      </a:r>
                      <a:r>
                        <a:rPr lang="ru-RU" sz="14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1920">
                        <a:lnSpc>
                          <a:spcPts val="205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1310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3-4</a:t>
                      </a:r>
                      <a:r>
                        <a:rPr lang="ru-RU" sz="14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80231759"/>
                  </a:ext>
                </a:extLst>
              </a:tr>
              <a:tr h="653807">
                <a:tc>
                  <a:txBody>
                    <a:bodyPr/>
                    <a:lstStyle/>
                    <a:p>
                      <a:pPr marL="91440">
                        <a:spcBef>
                          <a:spcPts val="1315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2045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r>
                        <a:rPr lang="ru-RU" sz="14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модуля</a:t>
                      </a:r>
                      <a:r>
                        <a:rPr lang="ru-RU" sz="1400" spc="-4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технолога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1920">
                        <a:lnSpc>
                          <a:spcPts val="2045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400" spc="-1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TechnologistModule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1315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5-6</a:t>
                      </a:r>
                      <a:r>
                        <a:rPr lang="ru-RU" sz="14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7427833"/>
                  </a:ext>
                </a:extLst>
              </a:tr>
              <a:tr h="653807">
                <a:tc>
                  <a:txBody>
                    <a:bodyPr/>
                    <a:lstStyle/>
                    <a:p>
                      <a:pPr marL="91440">
                        <a:spcBef>
                          <a:spcPts val="1315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2045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r>
                        <a:rPr lang="ru-RU" sz="14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модуля</a:t>
                      </a:r>
                      <a:r>
                        <a:rPr lang="ru-RU" sz="1400" spc="-4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лаборатории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1920">
                        <a:lnSpc>
                          <a:spcPts val="2045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400" spc="-1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LaboratoryModule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1315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7-8</a:t>
                      </a:r>
                      <a:r>
                        <a:rPr lang="ru-RU" sz="14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59904283"/>
                  </a:ext>
                </a:extLst>
              </a:tr>
              <a:tr h="653807">
                <a:tc>
                  <a:txBody>
                    <a:bodyPr/>
                    <a:lstStyle/>
                    <a:p>
                      <a:pPr marL="91440">
                        <a:spcBef>
                          <a:spcPts val="1315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2045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r>
                        <a:rPr lang="ru-RU" sz="14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модуля</a:t>
                      </a:r>
                      <a:r>
                        <a:rPr lang="ru-RU" sz="1400" spc="-4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аппаратчика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1920">
                        <a:lnSpc>
                          <a:spcPts val="2045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400" spc="-1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OperatorModule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1315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9-10</a:t>
                      </a:r>
                      <a:r>
                        <a:rPr lang="ru-RU" sz="14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62286674"/>
                  </a:ext>
                </a:extLst>
              </a:tr>
              <a:tr h="461533">
                <a:tc>
                  <a:txBody>
                    <a:bodyPr/>
                    <a:lstStyle/>
                    <a:p>
                      <a:pPr marL="91440">
                        <a:spcBef>
                          <a:spcPts val="600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spcBef>
                          <a:spcPts val="600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</a:t>
                      </a:r>
                      <a:r>
                        <a:rPr lang="ru-RU" sz="1400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модулей</a:t>
                      </a:r>
                      <a:r>
                        <a:rPr lang="ru-RU" sz="1400" spc="-8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ru-RU" sz="14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600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11-12</a:t>
                      </a:r>
                      <a:r>
                        <a:rPr lang="ru-RU" sz="14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67614553"/>
                  </a:ext>
                </a:extLst>
              </a:tr>
              <a:tr h="641858">
                <a:tc>
                  <a:txBody>
                    <a:bodyPr/>
                    <a:lstStyle/>
                    <a:p>
                      <a:pPr marL="91440">
                        <a:spcBef>
                          <a:spcPts val="1320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85000"/>
                        </a:lnSpc>
                        <a:spcBef>
                          <a:spcPts val="610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r>
                        <a:rPr lang="ru-RU" sz="1400" spc="-10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тестов</a:t>
                      </a:r>
                      <a:r>
                        <a:rPr lang="ru-RU" sz="14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(ручные,</a:t>
                      </a:r>
                      <a:r>
                        <a:rPr lang="ru-RU" sz="1400" spc="-10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модульные,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интеграционные)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1320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10320238"/>
                  </a:ext>
                </a:extLst>
              </a:tr>
              <a:tr h="461533">
                <a:tc>
                  <a:txBody>
                    <a:bodyPr/>
                    <a:lstStyle/>
                    <a:p>
                      <a:pPr marL="91440">
                        <a:spcBef>
                          <a:spcPts val="605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spcBef>
                          <a:spcPts val="605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Отладка</a:t>
                      </a:r>
                      <a:r>
                        <a:rPr lang="ru-RU" sz="1400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lang="ru-RU" sz="1400" spc="-3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исправление</a:t>
                      </a:r>
                      <a:r>
                        <a:rPr lang="ru-RU" sz="1400" spc="-3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ошибок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605"/>
                        </a:spcBef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</a:t>
                      </a: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35421559"/>
                  </a:ext>
                </a:extLst>
              </a:tr>
              <a:tr h="461533">
                <a:tc>
                  <a:txBody>
                    <a:bodyPr/>
                    <a:lstStyle/>
                    <a:p>
                      <a:pPr marL="91440">
                        <a:spcBef>
                          <a:spcPts val="605"/>
                        </a:spcBef>
                        <a:buNone/>
                      </a:pPr>
                      <a:r>
                        <a:rPr lang="ru-RU" sz="14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spcBef>
                          <a:spcPts val="605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Оформление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отчёта</a:t>
                      </a:r>
                      <a:r>
                        <a:rPr lang="ru-RU" sz="1400" spc="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ru-RU" sz="14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презентации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190">
                        <a:spcBef>
                          <a:spcPts val="605"/>
                        </a:spcBef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</a:t>
                      </a: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день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0756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34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Рабочее место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71464" y="292494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Характеристики компьютера: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E7D1CE1-B82C-9C34-0F4F-35070CFB1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626496"/>
              </p:ext>
            </p:extLst>
          </p:nvPr>
        </p:nvGraphicFramePr>
        <p:xfrm>
          <a:off x="1127448" y="3429000"/>
          <a:ext cx="10297144" cy="302433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148572">
                  <a:extLst>
                    <a:ext uri="{9D8B030D-6E8A-4147-A177-3AD203B41FA5}">
                      <a16:colId xmlns:a16="http://schemas.microsoft.com/office/drawing/2014/main" val="3765770522"/>
                    </a:ext>
                  </a:extLst>
                </a:gridCol>
                <a:gridCol w="5148572">
                  <a:extLst>
                    <a:ext uri="{9D8B030D-6E8A-4147-A177-3AD203B41FA5}">
                      <a16:colId xmlns:a16="http://schemas.microsoft.com/office/drawing/2014/main" val="1710878607"/>
                    </a:ext>
                  </a:extLst>
                </a:gridCol>
              </a:tblGrid>
              <a:tr h="492868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1197651"/>
                  </a:ext>
                </a:extLst>
              </a:tr>
              <a:tr h="492868">
                <a:tc>
                  <a:txBody>
                    <a:bodyPr/>
                    <a:lstStyle/>
                    <a:p>
                      <a:pPr marL="91440">
                        <a:spcBef>
                          <a:spcPts val="170"/>
                        </a:spcBef>
                        <a:buNone/>
                      </a:pP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Процессор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17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</a:t>
                      </a:r>
                      <a:r>
                        <a:rPr lang="en-US" sz="18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</a:t>
                      </a:r>
                      <a:r>
                        <a:rPr lang="en-US" sz="18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i5-12450H</a:t>
                      </a:r>
                      <a:r>
                        <a:rPr lang="en-US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195672"/>
                  </a:ext>
                </a:extLst>
              </a:tr>
              <a:tr h="509862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Оперативная</a:t>
                      </a:r>
                      <a:r>
                        <a:rPr lang="ru-RU" sz="18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память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ru-RU" sz="18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ГБ</a:t>
                      </a:r>
                      <a:r>
                        <a:rPr lang="ru-RU" sz="1800" spc="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DDR4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285926"/>
                  </a:ext>
                </a:extLst>
              </a:tr>
              <a:tr h="509862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Накопитель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SSD 512</a:t>
                      </a:r>
                      <a:r>
                        <a:rPr lang="ru-RU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ГБ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213733"/>
                  </a:ext>
                </a:extLst>
              </a:tr>
              <a:tr h="509013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Видеокарта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NVIDIA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GeForce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RTX</a:t>
                      </a:r>
                      <a:r>
                        <a:rPr lang="ru-RU" sz="18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4050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774761"/>
                  </a:ext>
                </a:extLst>
              </a:tr>
              <a:tr h="509862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Операционная</a:t>
                      </a:r>
                      <a:r>
                        <a:rPr lang="ru-RU" sz="18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88354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E732CE2-1258-2D7E-1CEA-9D477EA9A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8" y="1132754"/>
            <a:ext cx="4631162" cy="142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36406" tIns="188853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Периферийные устройства: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Монитор: 15.6" IPS (1920x1080)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Клавиатура: встроенная ноутбучная </a:t>
            </a:r>
            <a:endParaRPr lang="en-US" alt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Мышь: Logitech </a:t>
            </a:r>
            <a:r>
              <a:rPr lang="en-US" alt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G102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95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FC647-88CE-C2F3-EE30-8EE0E659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10EF99-D9DF-D7ED-D7E4-D4C244CF8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871AF45-948F-D295-754E-E2FD56A47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02859"/>
              </p:ext>
            </p:extLst>
          </p:nvPr>
        </p:nvGraphicFramePr>
        <p:xfrm>
          <a:off x="1344488" y="1417638"/>
          <a:ext cx="9732840" cy="516572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866420">
                  <a:extLst>
                    <a:ext uri="{9D8B030D-6E8A-4147-A177-3AD203B41FA5}">
                      <a16:colId xmlns:a16="http://schemas.microsoft.com/office/drawing/2014/main" val="1426121117"/>
                    </a:ext>
                  </a:extLst>
                </a:gridCol>
                <a:gridCol w="4866420">
                  <a:extLst>
                    <a:ext uri="{9D8B030D-6E8A-4147-A177-3AD203B41FA5}">
                      <a16:colId xmlns:a16="http://schemas.microsoft.com/office/drawing/2014/main" val="378620072"/>
                    </a:ext>
                  </a:extLst>
                </a:gridCol>
              </a:tblGrid>
              <a:tr h="582902">
                <a:tc>
                  <a:txBody>
                    <a:bodyPr/>
                    <a:lstStyle/>
                    <a:p>
                      <a:pPr marL="91440">
                        <a:spcBef>
                          <a:spcPts val="265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65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76122816"/>
                  </a:ext>
                </a:extLst>
              </a:tr>
              <a:tr h="582902">
                <a:tc>
                  <a:txBody>
                    <a:bodyPr/>
                    <a:lstStyle/>
                    <a:p>
                      <a:pPr marL="91440">
                        <a:spcBef>
                          <a:spcPts val="165"/>
                        </a:spcBef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</a:t>
                      </a:r>
                      <a:r>
                        <a:rPr lang="ru-RU" sz="18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 </a:t>
                      </a:r>
                      <a:r>
                        <a:rPr lang="ru-RU" sz="18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165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  <a:r>
                        <a:rPr lang="ru-RU" sz="1800" spc="-4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ru-RU" sz="18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lang="ru-RU" sz="18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WPF-модулей</a:t>
                      </a:r>
                      <a:r>
                        <a:rPr lang="ru-RU" sz="1800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</a:t>
                      </a:r>
                      <a:r>
                        <a:rPr lang="ru-RU" sz="18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928016"/>
                  </a:ext>
                </a:extLst>
              </a:tr>
              <a:tr h="984905">
                <a:tc>
                  <a:txBody>
                    <a:bodyPr/>
                    <a:lstStyle/>
                    <a:p>
                      <a:pPr marL="91440">
                        <a:spcBef>
                          <a:spcPts val="1215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ru-RU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</a:t>
                      </a:r>
                      <a:r>
                        <a:rPr lang="ru-RU" sz="18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Studio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050"/>
                        </a:lnSpc>
                        <a:spcBef>
                          <a:spcPts val="265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</a:t>
                      </a:r>
                      <a:r>
                        <a:rPr lang="ru-RU" sz="1800" spc="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lang="ru-RU" sz="18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администрирование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2555">
                        <a:lnSpc>
                          <a:spcPts val="205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базы</a:t>
                      </a:r>
                      <a:r>
                        <a:rPr lang="ru-RU" sz="18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данных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02779"/>
                  </a:ext>
                </a:extLst>
              </a:tr>
              <a:tr h="603003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</a:t>
                      </a:r>
                      <a:r>
                        <a:rPr lang="ru-RU" sz="18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</a:t>
                      </a:r>
                      <a:r>
                        <a:rPr lang="ru-RU" sz="1800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контроля</a:t>
                      </a:r>
                      <a:r>
                        <a:rPr lang="ru-RU" sz="18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версий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663831"/>
                  </a:ext>
                </a:extLst>
              </a:tr>
              <a:tr h="603003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Postman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</a:t>
                      </a:r>
                      <a:r>
                        <a:rPr lang="ru-RU" sz="1800" spc="-8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ru-RU" sz="18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запросов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303748"/>
                  </a:ext>
                </a:extLst>
              </a:tr>
              <a:tr h="603003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Figma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Прототипирование</a:t>
                      </a:r>
                      <a:r>
                        <a:rPr lang="ru-RU" sz="18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интерфейсов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527303"/>
                  </a:ext>
                </a:extLst>
              </a:tr>
              <a:tr h="603003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Swagger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Документирование</a:t>
                      </a:r>
                      <a:r>
                        <a:rPr lang="ru-RU" sz="18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07211"/>
                  </a:ext>
                </a:extLst>
              </a:tr>
              <a:tr h="603003">
                <a:tc>
                  <a:txBody>
                    <a:bodyPr/>
                    <a:lstStyle/>
                    <a:p>
                      <a:pPr marL="91440">
                        <a:spcBef>
                          <a:spcPts val="270"/>
                        </a:spcBef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ru-RU" sz="1800" spc="-6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Office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spcBef>
                          <a:spcPts val="270"/>
                        </a:spcBef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Оформление</a:t>
                      </a:r>
                      <a:r>
                        <a:rPr lang="ru-RU" sz="18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отчёта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652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D904866-90D3-D0F9-DCC5-BD4D9BCDE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36576"/>
            <a:ext cx="100080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Используемые на практике</a:t>
            </a:r>
            <a:endParaRPr lang="ru-RU" alt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программы</a:t>
            </a:r>
            <a:endParaRPr lang="ru-RU" alt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8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397DD-3061-C42D-7756-0ED3746A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32992" y="25698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3124E9-AC61-95CB-85EB-E2CFA718C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AF7028-67B1-31CE-0B97-013441501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-10294"/>
            <a:ext cx="3600399" cy="682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1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27F00A7-77D2-E8EF-0953-C18AA9ED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956" y="1544312"/>
            <a:ext cx="7078230" cy="52462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77C071E-491B-99FD-C313-C9478983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10CE8E4-3C1D-C9C9-3BBD-06E59024F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AB90E-C028-F389-D662-853EB9F3014A}"/>
              </a:ext>
            </a:extLst>
          </p:cNvPr>
          <p:cNvSpPr txBox="1"/>
          <p:nvPr/>
        </p:nvSpPr>
        <p:spPr>
          <a:xfrm>
            <a:off x="980814" y="1840439"/>
            <a:ext cx="2799757" cy="46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содержит 14 таблиц, нормализованных до 3НФ.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таблицы: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Пользователи, Продукция, Сырьё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СоставРецептуры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ШагиТехКарты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ПроизводственныеЗаказы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ПроизводственныеПартии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ВыполнениеШаговПартии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ЛабораторныеИспытания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ПартииСырья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ЖурналСобытий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Оборудование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09D60-F5C1-A8FA-42FA-543734B889FD}"/>
              </a:ext>
            </a:extLst>
          </p:cNvPr>
          <p:cNvSpPr txBox="1"/>
          <p:nvPr/>
        </p:nvSpPr>
        <p:spPr>
          <a:xfrm>
            <a:off x="2207568" y="133271"/>
            <a:ext cx="80032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1. Анализ предметной области и проектирование БД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041EB-7A62-4B66-D476-282907A89ED8}"/>
              </a:ext>
            </a:extLst>
          </p:cNvPr>
          <p:cNvSpPr txBox="1"/>
          <p:nvPr/>
        </p:nvSpPr>
        <p:spPr>
          <a:xfrm>
            <a:off x="1496680" y="643102"/>
            <a:ext cx="91188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описание: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бизнес-процессов предприятия по производству средств защиты растений. Выделены ключевые сущности: продукция, сырьё, рецептуры, технологические карты, заказы, партии, испытания.</a:t>
            </a:r>
          </a:p>
        </p:txBody>
      </p:sp>
    </p:spTree>
    <p:extLst>
      <p:ext uri="{BB962C8B-B14F-4D97-AF65-F5344CB8AC3E}">
        <p14:creationId xmlns:p14="http://schemas.microsoft.com/office/powerpoint/2010/main" val="3117044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8621D-FCB0-5514-4E1D-9C6E21AF2CA0}"/>
              </a:ext>
            </a:extLst>
          </p:cNvPr>
          <p:cNvSpPr txBox="1"/>
          <p:nvPr/>
        </p:nvSpPr>
        <p:spPr>
          <a:xfrm>
            <a:off x="312641" y="1745398"/>
            <a:ext cx="2808312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контроллеры: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RecipesController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TechCardsController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справочники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BatchesController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партиями (запуск, шаги, фактические данные)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QualityControlController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лабораторные испытания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ReportsController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отчёты (хранимые процедуры)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3F8DF-5618-B461-B7FC-665FA669DBBF}"/>
              </a:ext>
            </a:extLst>
          </p:cNvPr>
          <p:cNvSpPr txBox="1"/>
          <p:nvPr/>
        </p:nvSpPr>
        <p:spPr>
          <a:xfrm>
            <a:off x="1981200" y="76461"/>
            <a:ext cx="8686800" cy="407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Разработка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AgroControl.API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2AF3C-0C9A-2D14-3824-30D242DA3ADF}"/>
              </a:ext>
            </a:extLst>
          </p:cNvPr>
          <p:cNvSpPr txBox="1"/>
          <p:nvPr/>
        </p:nvSpPr>
        <p:spPr>
          <a:xfrm>
            <a:off x="911424" y="494375"/>
            <a:ext cx="868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описание: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на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Core 8.0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использованием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12 контроллеров для обслуживания всех трёх модулей.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653D34-86D0-029D-55AC-DAB5967E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469" y="1359969"/>
            <a:ext cx="5174260" cy="3149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2FC51A-9689-7D07-3A94-959B102A9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229" y="3140969"/>
            <a:ext cx="4317387" cy="36125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038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6A50B-12F0-5A69-699A-E02A0D81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00281-B4AD-BB84-00C0-F07216625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7290" y="3782008"/>
            <a:ext cx="2818656" cy="7529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FBFD1-1FB6-8AD2-21B1-43C8681CDEF8}"/>
              </a:ext>
            </a:extLst>
          </p:cNvPr>
          <p:cNvSpPr txBox="1"/>
          <p:nvPr/>
        </p:nvSpPr>
        <p:spPr>
          <a:xfrm>
            <a:off x="1055440" y="1454912"/>
            <a:ext cx="2952328" cy="453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страницы: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(дашборд)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Продукция (CRUD, архив)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 (создание версий, добавление компонентов)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Тех. карты (шаги с параметрами)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Заказы и партии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Отчёты (экспорт CSV/Excel)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A0B98-EADD-97CA-1CB1-00757FCEBDBE}"/>
              </a:ext>
            </a:extLst>
          </p:cNvPr>
          <p:cNvSpPr txBox="1"/>
          <p:nvPr/>
        </p:nvSpPr>
        <p:spPr>
          <a:xfrm>
            <a:off x="1981200" y="63498"/>
            <a:ext cx="8363272" cy="40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Модуль технолога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AgroControl.Technologist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6A78F-B020-8A92-5509-969ADEA2B634}"/>
              </a:ext>
            </a:extLst>
          </p:cNvPr>
          <p:cNvSpPr txBox="1"/>
          <p:nvPr/>
        </p:nvSpPr>
        <p:spPr>
          <a:xfrm>
            <a:off x="1647370" y="413109"/>
            <a:ext cx="9030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WPF-приложение для управления производственной документацией.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B32A49D-EFC7-AF7E-0787-8D5B931F6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036" y="991162"/>
            <a:ext cx="4798347" cy="2799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65A60AC-A93B-F168-3B09-9DACBA505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103" y="3828377"/>
            <a:ext cx="4645465" cy="2705686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1DFE8294-DC61-D551-1BD1-CB42824EE61B}"/>
              </a:ext>
            </a:extLst>
          </p:cNvPr>
          <p:cNvSpPr txBox="1">
            <a:spLocks/>
          </p:cNvSpPr>
          <p:nvPr/>
        </p:nvSpPr>
        <p:spPr>
          <a:xfrm>
            <a:off x="5087888" y="6418028"/>
            <a:ext cx="2818656" cy="752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Отчёты</a:t>
            </a:r>
          </a:p>
        </p:txBody>
      </p:sp>
    </p:spTree>
    <p:extLst>
      <p:ext uri="{BB962C8B-B14F-4D97-AF65-F5344CB8AC3E}">
        <p14:creationId xmlns:p14="http://schemas.microsoft.com/office/powerpoint/2010/main" val="397942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C73A7-70DB-ABDF-5F9E-A581F117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52EFF-A977-EFA3-5BED-6D0768C42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4272" y="4789512"/>
            <a:ext cx="2386608" cy="392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Карточка партии сырья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D91A1-1449-3199-F6CA-E618C139ED82}"/>
              </a:ext>
            </a:extLst>
          </p:cNvPr>
          <p:cNvSpPr txBox="1"/>
          <p:nvPr/>
        </p:nvSpPr>
        <p:spPr>
          <a:xfrm>
            <a:off x="830658" y="1299227"/>
            <a:ext cx="2711270" cy="529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разделы: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Партии сырья (фильтры: поиск, статус, поставщик, дата, только с испытаниями)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Готовая продукция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Испытания (CRUD)</a:t>
            </a:r>
          </a:p>
          <a:p>
            <a:pPr>
              <a:spcBef>
                <a:spcPts val="12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 партии сырья: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панель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испытаний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принятия решения (с комментарием, обязательным при блокировке)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решений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5AD90-FBB4-069A-DA73-8722B249FB10}"/>
              </a:ext>
            </a:extLst>
          </p:cNvPr>
          <p:cNvSpPr txBox="1"/>
          <p:nvPr/>
        </p:nvSpPr>
        <p:spPr>
          <a:xfrm>
            <a:off x="1981200" y="-2280"/>
            <a:ext cx="8686800" cy="40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4. Модуль лаборатории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AgroControl.Laboratory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64B90-893E-9E00-93BA-5567FD9BE99C}"/>
              </a:ext>
            </a:extLst>
          </p:cNvPr>
          <p:cNvSpPr txBox="1"/>
          <p:nvPr/>
        </p:nvSpPr>
        <p:spPr>
          <a:xfrm>
            <a:off x="1415480" y="463767"/>
            <a:ext cx="8592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WPF-приложение для контроля качества сырья и готовой продукции.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E8057E-43B8-D818-3492-B5B7DBC9B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195" y="1017468"/>
            <a:ext cx="4765928" cy="3779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BC535F-AFBB-6C04-49C6-D34DA5FD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929" y="1933028"/>
            <a:ext cx="3445484" cy="4162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B81CB76A-0391-1B6D-C625-0E36722C6BAE}"/>
              </a:ext>
            </a:extLst>
          </p:cNvPr>
          <p:cNvSpPr txBox="1">
            <a:spLocks/>
          </p:cNvSpPr>
          <p:nvPr/>
        </p:nvSpPr>
        <p:spPr>
          <a:xfrm>
            <a:off x="3935760" y="6042145"/>
            <a:ext cx="2711270" cy="392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создания испытания</a:t>
            </a:r>
          </a:p>
        </p:txBody>
      </p:sp>
    </p:spTree>
    <p:extLst>
      <p:ext uri="{BB962C8B-B14F-4D97-AF65-F5344CB8AC3E}">
        <p14:creationId xmlns:p14="http://schemas.microsoft.com/office/powerpoint/2010/main" val="1976711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C4954-C41F-0F11-86CE-9D1591DE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226240-D530-1B72-FA6F-9187E98FB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4C963-C73A-14EE-AFA2-EFFE5038FE9D}"/>
              </a:ext>
            </a:extLst>
          </p:cNvPr>
          <p:cNvSpPr txBox="1"/>
          <p:nvPr/>
        </p:nvSpPr>
        <p:spPr>
          <a:xfrm>
            <a:off x="550458" y="841628"/>
            <a:ext cx="3203848" cy="59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партии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таблица с индикацией предупреждений и критических отклонений. Двойной клик – переход в программу партии.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партии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список шагов слева, детали шага справа (плановые/фактические параметры, кнопки «Начать шаг», «Сохранить данные», «Завершить шаг»).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Экструдер LIVE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автоматическое обновление каждые 5 секунд (температура, давление, скорость шнека).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 партии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Сообщить о проблеме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проблемы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28FA-58E5-F810-A95E-B94BA52C06D0}"/>
              </a:ext>
            </a:extLst>
          </p:cNvPr>
          <p:cNvSpPr txBox="1"/>
          <p:nvPr/>
        </p:nvSpPr>
        <p:spPr>
          <a:xfrm>
            <a:off x="1981200" y="-44782"/>
            <a:ext cx="8229600" cy="40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5. Модуль аппаратчика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AgroControl.Operator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D6009-2117-2029-4B61-1BC0AC3013EF}"/>
              </a:ext>
            </a:extLst>
          </p:cNvPr>
          <p:cNvSpPr txBox="1"/>
          <p:nvPr/>
        </p:nvSpPr>
        <p:spPr>
          <a:xfrm>
            <a:off x="1319429" y="281971"/>
            <a:ext cx="8460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WPF-приложение для выполнения технологических операций.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6618CE-6B86-2C8F-F800-B2D898E14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910" y="837281"/>
            <a:ext cx="4592959" cy="26965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581453-76E2-66E3-C49F-A98721C40BB5}"/>
              </a:ext>
            </a:extLst>
          </p:cNvPr>
          <p:cNvSpPr txBox="1"/>
          <p:nvPr/>
        </p:nvSpPr>
        <p:spPr>
          <a:xfrm>
            <a:off x="9357884" y="3468450"/>
            <a:ext cx="4639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партии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5F174F1-B5E9-DB6A-8315-637BE7223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448" y="3575890"/>
            <a:ext cx="4946848" cy="28873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6EDB2D-E265-B2D4-2BD2-903DF7FBD905}"/>
              </a:ext>
            </a:extLst>
          </p:cNvPr>
          <p:cNvSpPr txBox="1"/>
          <p:nvPr/>
        </p:nvSpPr>
        <p:spPr>
          <a:xfrm>
            <a:off x="5807968" y="6463237"/>
            <a:ext cx="4639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партии</a:t>
            </a:r>
          </a:p>
        </p:txBody>
      </p:sp>
    </p:spTree>
    <p:extLst>
      <p:ext uri="{BB962C8B-B14F-4D97-AF65-F5344CB8AC3E}">
        <p14:creationId xmlns:p14="http://schemas.microsoft.com/office/powerpoint/2010/main" val="397777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0769B-2C4D-107E-638A-88B4728B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848" y="274638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D2E64E-D035-C436-C7C0-4140B5D6E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848" y="160020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B996F6E9-9DE1-5D83-2310-EBF05EF06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158"/>
              </p:ext>
            </p:extLst>
          </p:nvPr>
        </p:nvGraphicFramePr>
        <p:xfrm>
          <a:off x="911424" y="1417638"/>
          <a:ext cx="10153127" cy="36274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69821">
                  <a:extLst>
                    <a:ext uri="{9D8B030D-6E8A-4147-A177-3AD203B41FA5}">
                      <a16:colId xmlns:a16="http://schemas.microsoft.com/office/drawing/2014/main" val="541131116"/>
                    </a:ext>
                  </a:extLst>
                </a:gridCol>
                <a:gridCol w="2661102">
                  <a:extLst>
                    <a:ext uri="{9D8B030D-6E8A-4147-A177-3AD203B41FA5}">
                      <a16:colId xmlns:a16="http://schemas.microsoft.com/office/drawing/2014/main" val="1392099284"/>
                    </a:ext>
                  </a:extLst>
                </a:gridCol>
                <a:gridCol w="2661102">
                  <a:extLst>
                    <a:ext uri="{9D8B030D-6E8A-4147-A177-3AD203B41FA5}">
                      <a16:colId xmlns:a16="http://schemas.microsoft.com/office/drawing/2014/main" val="1993756178"/>
                    </a:ext>
                  </a:extLst>
                </a:gridCol>
                <a:gridCol w="2661102">
                  <a:extLst>
                    <a:ext uri="{9D8B030D-6E8A-4147-A177-3AD203B41FA5}">
                      <a16:colId xmlns:a16="http://schemas.microsoft.com/office/drawing/2014/main" val="1446944735"/>
                    </a:ext>
                  </a:extLst>
                </a:gridCol>
              </a:tblGrid>
              <a:tr h="63282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тестов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60672248"/>
                  </a:ext>
                </a:extLst>
              </a:tr>
              <a:tr h="9864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Ручные тест-кейсы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пройдены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40339575"/>
                  </a:ext>
                </a:extLst>
              </a:tr>
              <a:tr h="9864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Модульные тесты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MSTest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30/30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73440437"/>
                  </a:ext>
                </a:extLst>
              </a:tr>
              <a:tr h="10216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Интеграционные тесты </a:t>
                      </a: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TestHost + InMemory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10/10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548739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3B782BE-ABE8-EC78-BD81-10963DF58B67}"/>
              </a:ext>
            </a:extLst>
          </p:cNvPr>
          <p:cNvSpPr txBox="1"/>
          <p:nvPr/>
        </p:nvSpPr>
        <p:spPr>
          <a:xfrm>
            <a:off x="1675288" y="138329"/>
            <a:ext cx="8943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6. Разработка тестов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8E36C-B59C-A2A1-12C6-812F84766CCB}"/>
              </a:ext>
            </a:extLst>
          </p:cNvPr>
          <p:cNvSpPr txBox="1"/>
          <p:nvPr/>
        </p:nvSpPr>
        <p:spPr>
          <a:xfrm>
            <a:off x="1315426" y="957025"/>
            <a:ext cx="4803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тестирования: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60F6FD-8CA6-F7F8-CFBA-1A4D97FBEAD1}"/>
              </a:ext>
            </a:extLst>
          </p:cNvPr>
          <p:cNvSpPr txBox="1"/>
          <p:nvPr/>
        </p:nvSpPr>
        <p:spPr>
          <a:xfrm>
            <a:off x="1847528" y="5431310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Доля негативных сценариев: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22,5% (9 из 40) – соответствует ТЗ (&gt;20%).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24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0D22E-E919-0B50-1583-275C0993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A3AD7-6199-303A-83F5-82EC51F57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10890-A524-4A7B-DDD5-89F9A1658C89}"/>
              </a:ext>
            </a:extLst>
          </p:cNvPr>
          <p:cNvSpPr txBox="1"/>
          <p:nvPr/>
        </p:nvSpPr>
        <p:spPr>
          <a:xfrm>
            <a:off x="1775520" y="258596"/>
            <a:ext cx="8435280" cy="43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Задание 7. Примеры ручных тестов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C028C2C-592F-EB45-4507-2BA198928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798243"/>
              </p:ext>
            </p:extLst>
          </p:nvPr>
        </p:nvGraphicFramePr>
        <p:xfrm>
          <a:off x="767408" y="916503"/>
          <a:ext cx="5031442" cy="58444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7272">
                  <a:extLst>
                    <a:ext uri="{9D8B030D-6E8A-4147-A177-3AD203B41FA5}">
                      <a16:colId xmlns:a16="http://schemas.microsoft.com/office/drawing/2014/main" val="2066203632"/>
                    </a:ext>
                  </a:extLst>
                </a:gridCol>
                <a:gridCol w="3324170">
                  <a:extLst>
                    <a:ext uri="{9D8B030D-6E8A-4147-A177-3AD203B41FA5}">
                      <a16:colId xmlns:a16="http://schemas.microsoft.com/office/drawing/2014/main" val="4262163776"/>
                    </a:ext>
                  </a:extLst>
                </a:gridCol>
              </a:tblGrid>
              <a:tr h="255749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TestCase #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API-1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1048760978"/>
                  </a:ext>
                </a:extLst>
              </a:tr>
              <a:tr h="255749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Приоритет теста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High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319175341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тестирования/Имя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Логин с корректными данными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1713466953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Резюме испытания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Проверка успешной аутентификации технолога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2316998796"/>
                  </a:ext>
                </a:extLst>
              </a:tr>
              <a:tr h="1530140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Шаги тестирования</a:t>
                      </a:r>
                      <a:endParaRPr lang="ru-RU" sz="1100" b="1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Запустить сервер API (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AgroControl.API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b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В инструменте API-клиента (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Postman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Swagger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отправить POST запрос на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эндпоинт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/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В теле запроса передать JSON: {"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": "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tech.ivanov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", "Password": "Password123!"}.</a:t>
                      </a:r>
                      <a:b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Отправить запрос.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547696339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 тестирования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 = tech.ivanov, Password = Password123!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335967007"/>
                  </a:ext>
                </a:extLst>
              </a:tr>
              <a:tr h="5641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 статус 200. Тело ответа содержит {"success": true, "message": "Вход выполнен"}.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2747123459"/>
                  </a:ext>
                </a:extLst>
              </a:tr>
              <a:tr h="5641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Фактический результат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HTTP статус 200, ответ {"success":true,"message":"Вход выполнен"}.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3449516916"/>
                  </a:ext>
                </a:extLst>
              </a:tr>
              <a:tr h="5641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Предпосылки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Сервер API запущен, база данных содержит пользователя 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tech.ivanov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 паролем Password123!.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3311012199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Постусловия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Сессия не требуется, токен не используется.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2956166375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Статус (Pass/Fail)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4226059632"/>
                  </a:ext>
                </a:extLst>
              </a:tr>
              <a:tr h="255749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Комментарии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08" marR="60908" marT="0" marB="0" anchor="ctr"/>
                </a:tc>
                <a:extLst>
                  <a:ext uri="{0D108BD9-81ED-4DB2-BD59-A6C34878D82A}">
                    <a16:rowId xmlns:a16="http://schemas.microsoft.com/office/drawing/2014/main" val="4245416185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09BFF41-B535-3C4F-C942-316874AD5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777674"/>
              </p:ext>
            </p:extLst>
          </p:nvPr>
        </p:nvGraphicFramePr>
        <p:xfrm>
          <a:off x="6096000" y="916503"/>
          <a:ext cx="5400600" cy="58199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2535">
                  <a:extLst>
                    <a:ext uri="{9D8B030D-6E8A-4147-A177-3AD203B41FA5}">
                      <a16:colId xmlns:a16="http://schemas.microsoft.com/office/drawing/2014/main" val="4240350624"/>
                    </a:ext>
                  </a:extLst>
                </a:gridCol>
                <a:gridCol w="3568065">
                  <a:extLst>
                    <a:ext uri="{9D8B030D-6E8A-4147-A177-3AD203B41FA5}">
                      <a16:colId xmlns:a16="http://schemas.microsoft.com/office/drawing/2014/main" val="4250973427"/>
                    </a:ext>
                  </a:extLst>
                </a:gridCol>
              </a:tblGrid>
              <a:tr h="36977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TestCase #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TECH-5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2025953577"/>
                  </a:ext>
                </a:extLst>
              </a:tr>
              <a:tr h="36977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Приоритет теста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High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4166131756"/>
                  </a:ext>
                </a:extLst>
              </a:tr>
              <a:tr h="495309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тестирования/Имя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Создание рецептуры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1869097679"/>
                  </a:ext>
                </a:extLst>
              </a:tr>
              <a:tr h="43838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Резюме испытания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Проверка создания рецептуры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3240852448"/>
                  </a:ext>
                </a:extLst>
              </a:tr>
              <a:tr h="1260687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Шаги тестирования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1. Перейти в раздел «Рецептуры».</a:t>
                      </a:r>
                      <a:b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Нажать «Добавить».</a:t>
                      </a:r>
                      <a:b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Выбрать продукт (например, P001).</a:t>
                      </a:r>
                      <a:b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Указать версию = 1, статус = черновик.</a:t>
                      </a:r>
                      <a:b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Нажать «OK».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3945268825"/>
                  </a:ext>
                </a:extLst>
              </a:tr>
              <a:tr h="43838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 тестирования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Продукт = P001, версия = 1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2767955425"/>
                  </a:ext>
                </a:extLst>
              </a:tr>
              <a:tr h="495309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Рецептура отображается в списке рецептур с указанными данными.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2778911667"/>
                  </a:ext>
                </a:extLst>
              </a:tr>
              <a:tr h="43838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Фактический результат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Рецептура создана.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727287234"/>
                  </a:ext>
                </a:extLst>
              </a:tr>
              <a:tr h="36977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Предпосылки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Продукт P001 существует.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2324741040"/>
                  </a:ext>
                </a:extLst>
              </a:tr>
              <a:tr h="36977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Постусловия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Рецептуру можно удалить.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3850932184"/>
                  </a:ext>
                </a:extLst>
              </a:tr>
              <a:tr h="40460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Статус (Pass/Fail)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Pass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3400209632"/>
                  </a:ext>
                </a:extLst>
              </a:tr>
              <a:tr h="369774">
                <a:tc>
                  <a:txBody>
                    <a:bodyPr/>
                    <a:lstStyle/>
                    <a:p>
                      <a:pPr indent="15303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Комментарии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73" marR="65973" marT="0" marB="0" anchor="ctr"/>
                </a:tc>
                <a:extLst>
                  <a:ext uri="{0D108BD9-81ED-4DB2-BD59-A6C34878D82A}">
                    <a16:rowId xmlns:a16="http://schemas.microsoft.com/office/drawing/2014/main" val="1889596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62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6B634-9CD0-0B45-6DFF-8EA896A5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1553835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5F460DB-BE9D-5D59-D600-F1095D3E9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705867"/>
              </p:ext>
            </p:extLst>
          </p:nvPr>
        </p:nvGraphicFramePr>
        <p:xfrm>
          <a:off x="1271464" y="476672"/>
          <a:ext cx="9937104" cy="619268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194458144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426350337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436839837"/>
                    </a:ext>
                  </a:extLst>
                </a:gridCol>
              </a:tblGrid>
              <a:tr h="45589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</a:p>
                  </a:txBody>
                  <a:tcPr marL="57676" marR="96127" marT="60079" marB="600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96127" marR="96127" marT="60079" marB="6007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Пути решения</a:t>
                      </a:r>
                    </a:p>
                  </a:txBody>
                  <a:tcPr marL="96127" marR="96127" marT="60079" marB="60079" anchor="ctr"/>
                </a:tc>
                <a:extLst>
                  <a:ext uri="{0D108BD9-81ED-4DB2-BD59-A6C34878D82A}">
                    <a16:rowId xmlns:a16="http://schemas.microsoft.com/office/drawing/2014/main" val="1580438724"/>
                  </a:ext>
                </a:extLst>
              </a:tr>
              <a:tr h="139368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Несовместимость платформ</a:t>
                      </a:r>
                    </a:p>
                  </a:txBody>
                  <a:tcPr marL="57676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Тестовые проекты на .NET Framework не работали с модулями на .NET 8.0</a:t>
                      </a:r>
                    </a:p>
                  </a:txBody>
                  <a:tcPr marL="96127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собственных тестовых классов 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TestHelpers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вместо прямых ссылок</a:t>
                      </a:r>
                    </a:p>
                  </a:txBody>
                  <a:tcPr marL="96127" marR="57676" marT="60079" marB="60079" anchor="ctr"/>
                </a:tc>
                <a:extLst>
                  <a:ext uri="{0D108BD9-81ED-4DB2-BD59-A6C34878D82A}">
                    <a16:rowId xmlns:a16="http://schemas.microsoft.com/office/drawing/2014/main" val="1904963480"/>
                  </a:ext>
                </a:extLst>
              </a:tr>
              <a:tr h="10857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Ошибки </a:t>
                      </a: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 </a:t>
                      </a: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БД</a:t>
                      </a:r>
                    </a:p>
                  </a:txBody>
                  <a:tcPr marL="57676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Некоторые поля имели NULL значения</a:t>
                      </a:r>
                    </a:p>
                  </a:txBody>
                  <a:tcPr marL="96127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Добавлены проверки IsDBNull(), заполнены начальные данные</a:t>
                      </a:r>
                    </a:p>
                  </a:txBody>
                  <a:tcPr marL="96127" marR="57676" marT="60079" marB="60079" anchor="ctr"/>
                </a:tc>
                <a:extLst>
                  <a:ext uri="{0D108BD9-81ED-4DB2-BD59-A6C34878D82A}">
                    <a16:rowId xmlns:a16="http://schemas.microsoft.com/office/drawing/2014/main" val="1968013631"/>
                  </a:ext>
                </a:extLst>
              </a:tr>
              <a:tr h="10857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Несоответствие </a:t>
                      </a: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полей</a:t>
                      </a:r>
                    </a:p>
                  </a:txBody>
                  <a:tcPr marL="57676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Модели не имели [</a:t>
                      </a: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JsonPropertyName]</a:t>
                      </a:r>
                    </a:p>
                  </a:txBody>
                  <a:tcPr marL="96127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Добавлены атрибуты или отключён camelCase в Program.cs</a:t>
                      </a:r>
                    </a:p>
                  </a:txBody>
                  <a:tcPr marL="96127" marR="57676" marT="60079" marB="60079" anchor="ctr"/>
                </a:tc>
                <a:extLst>
                  <a:ext uri="{0D108BD9-81ED-4DB2-BD59-A6C34878D82A}">
                    <a16:rowId xmlns:a16="http://schemas.microsoft.com/office/drawing/2014/main" val="2891101585"/>
                  </a:ext>
                </a:extLst>
              </a:tr>
              <a:tr h="9831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с </a:t>
                      </a: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CORS</a:t>
                      </a:r>
                    </a:p>
                  </a:txBody>
                  <a:tcPr marL="57676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не принимал запросы с локальных модулей</a:t>
                      </a:r>
                    </a:p>
                  </a:txBody>
                  <a:tcPr marL="96127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Настроена политика </a:t>
                      </a: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AllowAnyOrigin()</a:t>
                      </a:r>
                    </a:p>
                  </a:txBody>
                  <a:tcPr marL="96127" marR="57676" marT="60079" marB="60079" anchor="ctr"/>
                </a:tc>
                <a:extLst>
                  <a:ext uri="{0D108BD9-81ED-4DB2-BD59-A6C34878D82A}">
                    <a16:rowId xmlns:a16="http://schemas.microsoft.com/office/drawing/2014/main" val="3660047446"/>
                  </a:ext>
                </a:extLst>
              </a:tr>
              <a:tr h="11884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Ошибки авторизации</a:t>
                      </a:r>
                    </a:p>
                  </a:txBody>
                  <a:tcPr marL="57676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правильный пароль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127" marR="96127" marT="60079" marB="600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бд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исправился </a:t>
                      </a:r>
                      <a:r>
                        <a:rPr lang="en-US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hesh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пороля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6127" marR="57676" marT="60079" marB="60079" anchor="ctr"/>
                </a:tc>
                <a:extLst>
                  <a:ext uri="{0D108BD9-81ED-4DB2-BD59-A6C34878D82A}">
                    <a16:rowId xmlns:a16="http://schemas.microsoft.com/office/drawing/2014/main" val="9313585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D9D2851-CD31-C9C6-435A-FFA768FB7B85}"/>
              </a:ext>
            </a:extLst>
          </p:cNvPr>
          <p:cNvSpPr txBox="1"/>
          <p:nvPr/>
        </p:nvSpPr>
        <p:spPr>
          <a:xfrm>
            <a:off x="1703512" y="-148176"/>
            <a:ext cx="8640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практики и пути решения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CFB420C-6117-35FE-2082-92D9CED4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152" y="228872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721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-243408"/>
            <a:ext cx="8229600" cy="114300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1384" y="882971"/>
            <a:ext cx="1094521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выводы по практике: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предметной области, спроектирована база данных (14 таблиц, 3НФ, уникальные фильтрованные индексы для активных рецептур/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API на 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ASP.NET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(12 контроллеров, единый формат ответа).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три WPF-приложения:</a:t>
            </a:r>
          </a:p>
          <a:p>
            <a:pPr lvl="1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управление рецептурами,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заказами, партиями, отчётами.</a:t>
            </a:r>
          </a:p>
          <a:p>
            <a:pPr lvl="1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Лаборант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контроль качества сырья и продукции, испытания, принятие решений.</a:t>
            </a:r>
          </a:p>
          <a:p>
            <a:pPr lvl="1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Аппаратчик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пошаговое выполнение партии, ввод фактических данных, телеметрия экструдера.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модули успешно интегрированы через единый API.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тестов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(40 ручных + 30 модульных + 10 интеграционных), негативные сценарии – 22,5%.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отладка, все 8 выявленных ошибок исправлены.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Чего удалось достичь: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рабочая система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для автоматизации производства средств защиты растений. Все модули стабильно работают и корректно взаимодействуют. Система готова к опытной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2648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970D0-FFA6-1231-790A-1CBBE4D1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28" y="-1714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6B4EB1-FD60-1CC9-75CB-7C1293415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470" y="764705"/>
            <a:ext cx="5945061" cy="59450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0725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1329</Words>
  <Application>Microsoft Office PowerPoint</Application>
  <PresentationFormat>Широкоэкранный</PresentationFormat>
  <Paragraphs>276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Noto Sans SC</vt:lpstr>
      <vt:lpstr>Times New Roman</vt:lpstr>
      <vt:lpstr>Тема Office</vt:lpstr>
      <vt:lpstr>Отчет по учебной практике  ПМ.02 Осуществление интеграции программных модулей</vt:lpstr>
      <vt:lpstr>База практики</vt:lpstr>
      <vt:lpstr>План практики</vt:lpstr>
      <vt:lpstr>Рабочее место</vt:lpstr>
      <vt:lpstr> </vt:lpstr>
      <vt:lpstr>UML Диаграмма</vt:lpstr>
      <vt:lpstr> </vt:lpstr>
      <vt:lpstr> </vt:lpstr>
      <vt:lpstr> </vt:lpstr>
      <vt:lpstr> </vt:lpstr>
      <vt:lpstr> </vt:lpstr>
      <vt:lpstr> </vt:lpstr>
      <vt:lpstr> </vt:lpstr>
      <vt:lpstr> </vt:lpstr>
      <vt:lpstr>Заключение</vt:lpstr>
      <vt:lpstr>QR-код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 ПМ.02 Осуществление интеграции программных модулей</dc:title>
  <dc:creator>Prepod_1</dc:creator>
  <cp:lastModifiedBy>Дима Исупов</cp:lastModifiedBy>
  <cp:revision>6</cp:revision>
  <dcterms:created xsi:type="dcterms:W3CDTF">2023-05-12T10:02:04Z</dcterms:created>
  <dcterms:modified xsi:type="dcterms:W3CDTF">2026-05-18T10:15:34Z</dcterms:modified>
</cp:coreProperties>
</file>