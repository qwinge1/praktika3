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  <p:sldId id="270" r:id="rId1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053" autoAdjust="0"/>
  </p:normalViewPr>
  <p:slideViewPr>
    <p:cSldViewPr>
      <p:cViewPr varScale="1">
        <p:scale>
          <a:sx n="68" d="100"/>
          <a:sy n="68" d="100"/>
        </p:scale>
        <p:origin x="690" y="12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AEB5B1-0927-4448-A8BC-FA488532DF2B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9C214C-7B51-4D5E-B8D7-C469CB1E0E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6240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9C214C-7B51-4D5E-B8D7-C469CB1E0E27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5606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5146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583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3871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5425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300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8079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0976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7617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672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509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596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DF8A3-FB47-419B-B922-FB495021C6E4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14BC9-EDC8-482C-8497-563AE1ACA9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46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asp.net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asp.net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asp.net/" TargetMode="Externa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95536" y="1700809"/>
            <a:ext cx="8062664" cy="1899642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Отчет по учебной практике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ПМ.02 Осуществление интеграции программных модулей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716016" y="3886200"/>
            <a:ext cx="4427984" cy="2423120"/>
          </a:xfrm>
        </p:spPr>
        <p:txBody>
          <a:bodyPr>
            <a:norm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Исупов Дмитрий Андреевич</a:t>
            </a:r>
          </a:p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группа 23П-2</a:t>
            </a:r>
          </a:p>
          <a:p>
            <a:pPr algn="l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Специалоность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09.02.07 Информационные системы и программирование</a:t>
            </a:r>
          </a:p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практики от колледжа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Калинин Арсений Олегович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616" y="332656"/>
            <a:ext cx="71287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образования Кировской области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Кировское областное государственное профессиональное бюджетное учреждение 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«Слободской колледж педагогики и социальных отношений»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7864" y="6309320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 – 2026 г.</a:t>
            </a:r>
          </a:p>
        </p:txBody>
      </p:sp>
    </p:spTree>
    <p:extLst>
      <p:ext uri="{BB962C8B-B14F-4D97-AF65-F5344CB8AC3E}">
        <p14:creationId xmlns:p14="http://schemas.microsoft.com/office/powerpoint/2010/main" val="4207866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База практики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71A1B05-5179-791D-06E5-0E766D5B04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014174"/>
              </p:ext>
            </p:extLst>
          </p:nvPr>
        </p:nvGraphicFramePr>
        <p:xfrm>
          <a:off x="323528" y="1331118"/>
          <a:ext cx="8496944" cy="505021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4248472">
                  <a:extLst>
                    <a:ext uri="{9D8B030D-6E8A-4147-A177-3AD203B41FA5}">
                      <a16:colId xmlns:a16="http://schemas.microsoft.com/office/drawing/2014/main" val="509164893"/>
                    </a:ext>
                  </a:extLst>
                </a:gridCol>
                <a:gridCol w="4248472">
                  <a:extLst>
                    <a:ext uri="{9D8B030D-6E8A-4147-A177-3AD203B41FA5}">
                      <a16:colId xmlns:a16="http://schemas.microsoft.com/office/drawing/2014/main" val="989058367"/>
                    </a:ext>
                  </a:extLst>
                </a:gridCol>
              </a:tblGrid>
              <a:tr h="466421">
                <a:tc>
                  <a:txBody>
                    <a:bodyPr/>
                    <a:lstStyle/>
                    <a:p>
                      <a:pPr marL="91440">
                        <a:spcBef>
                          <a:spcPts val="265"/>
                        </a:spcBef>
                        <a:buNone/>
                      </a:pPr>
                      <a:r>
                        <a:rPr lang="ru-RU" sz="18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Поле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65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Значение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976511984"/>
                  </a:ext>
                </a:extLst>
              </a:tr>
              <a:tr h="772007">
                <a:tc>
                  <a:txBody>
                    <a:bodyPr/>
                    <a:lstStyle/>
                    <a:p>
                      <a:pPr marL="91440">
                        <a:spcBef>
                          <a:spcPts val="1115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организации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ts val="2050"/>
                        </a:lnSpc>
                        <a:spcBef>
                          <a:spcPts val="165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КОГПОБУ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«Слободской</a:t>
                      </a:r>
                      <a:r>
                        <a:rPr lang="ru-RU" sz="1800" spc="-3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колледж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2555">
                        <a:lnSpc>
                          <a:spcPts val="2050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педагогики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социальных</a:t>
                      </a:r>
                      <a:r>
                        <a:rPr lang="ru-RU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отношений»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952037"/>
                  </a:ext>
                </a:extLst>
              </a:tr>
              <a:tr h="482504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Адрес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г.</a:t>
                      </a:r>
                      <a:r>
                        <a:rPr lang="ru-RU" sz="18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Слободской,</a:t>
                      </a:r>
                      <a:r>
                        <a:rPr lang="ru-RU" sz="18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ул.</a:t>
                      </a:r>
                      <a:r>
                        <a:rPr lang="ru-RU" sz="18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Советская,</a:t>
                      </a:r>
                      <a:r>
                        <a:rPr lang="ru-RU" sz="1800" spc="-5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д.</a:t>
                      </a:r>
                      <a:r>
                        <a:rPr lang="ru-RU" sz="18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6141670"/>
                  </a:ext>
                </a:extLst>
              </a:tr>
              <a:tr h="788090">
                <a:tc>
                  <a:txBody>
                    <a:bodyPr/>
                    <a:lstStyle/>
                    <a:p>
                      <a:pPr marL="91440">
                        <a:spcBef>
                          <a:spcPts val="122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Сфера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деятельности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Образование,</a:t>
                      </a:r>
                      <a:r>
                        <a:rPr lang="ru-RU" sz="18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подготовка</a:t>
                      </a:r>
                      <a:r>
                        <a:rPr lang="ru-RU" sz="18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IT-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2555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специалистов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1387928"/>
                  </a:ext>
                </a:extLst>
              </a:tr>
              <a:tr h="482504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ФИО</a:t>
                      </a:r>
                      <a:r>
                        <a:rPr lang="ru-RU" sz="1800" spc="-2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программиста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Калинин</a:t>
                      </a:r>
                      <a:r>
                        <a:rPr lang="ru-RU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Арсений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Олегович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366297"/>
                  </a:ext>
                </a:extLst>
              </a:tr>
              <a:tr h="482504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</a:t>
                      </a:r>
                      <a:r>
                        <a:rPr lang="ru-RU" sz="1800" spc="-7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программистов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spc="-5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5825893"/>
                  </a:ext>
                </a:extLst>
              </a:tr>
              <a:tr h="788090">
                <a:tc>
                  <a:txBody>
                    <a:bodyPr/>
                    <a:lstStyle/>
                    <a:p>
                      <a:pPr marL="91440">
                        <a:spcBef>
                          <a:spcPts val="122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Должностные</a:t>
                      </a:r>
                      <a:r>
                        <a:rPr lang="ru-RU" sz="1800" spc="-6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обязанности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85000"/>
                        </a:lnSpc>
                        <a:spcBef>
                          <a:spcPts val="51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Руководство практикой, контроль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выполнения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заданий,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консультация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3043858"/>
                  </a:ext>
                </a:extLst>
              </a:tr>
              <a:tr h="788090">
                <a:tc>
                  <a:txBody>
                    <a:bodyPr/>
                    <a:lstStyle/>
                    <a:p>
                      <a:pPr marL="91440" marR="168910">
                        <a:lnSpc>
                          <a:spcPct val="85000"/>
                        </a:lnSpc>
                        <a:spcBef>
                          <a:spcPts val="515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Наименование</a:t>
                      </a:r>
                      <a:r>
                        <a:rPr lang="ru-RU" sz="1800" spc="-2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используемых программ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85000"/>
                        </a:lnSpc>
                        <a:spcBef>
                          <a:spcPts val="515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 Studio 2022, SQL Server Management</a:t>
                      </a:r>
                      <a:r>
                        <a:rPr lang="ru-RU" sz="1800" spc="-8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Studio,</a:t>
                      </a:r>
                      <a:r>
                        <a:rPr lang="ru-RU" sz="1800" spc="-6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ru-RU" sz="18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Postman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ru-RU" sz="1800" spc="-6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Figma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7714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6589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План практики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DCB99224-58AA-F725-496D-5BC08A757E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122822"/>
              </p:ext>
            </p:extLst>
          </p:nvPr>
        </p:nvGraphicFramePr>
        <p:xfrm>
          <a:off x="457201" y="1268760"/>
          <a:ext cx="8363273" cy="5400598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695816">
                  <a:extLst>
                    <a:ext uri="{9D8B030D-6E8A-4147-A177-3AD203B41FA5}">
                      <a16:colId xmlns:a16="http://schemas.microsoft.com/office/drawing/2014/main" val="2061436974"/>
                    </a:ext>
                  </a:extLst>
                </a:gridCol>
                <a:gridCol w="6036642">
                  <a:extLst>
                    <a:ext uri="{9D8B030D-6E8A-4147-A177-3AD203B41FA5}">
                      <a16:colId xmlns:a16="http://schemas.microsoft.com/office/drawing/2014/main" val="2787470248"/>
                    </a:ext>
                  </a:extLst>
                </a:gridCol>
                <a:gridCol w="1630815">
                  <a:extLst>
                    <a:ext uri="{9D8B030D-6E8A-4147-A177-3AD203B41FA5}">
                      <a16:colId xmlns:a16="http://schemas.microsoft.com/office/drawing/2014/main" val="1086291828"/>
                    </a:ext>
                  </a:extLst>
                </a:gridCol>
              </a:tblGrid>
              <a:tr h="347180">
                <a:tc>
                  <a:txBody>
                    <a:bodyPr/>
                    <a:lstStyle/>
                    <a:p>
                      <a:pPr marL="91440">
                        <a:spcBef>
                          <a:spcPts val="26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№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spcBef>
                          <a:spcPts val="265"/>
                        </a:spcBef>
                        <a:buNone/>
                      </a:pPr>
                      <a:r>
                        <a:rPr lang="ru-RU" sz="14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Задание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265"/>
                        </a:spcBef>
                        <a:buNone/>
                      </a:pP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Срок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47586714"/>
                  </a:ext>
                </a:extLst>
              </a:tr>
              <a:tr h="620703">
                <a:tc>
                  <a:txBody>
                    <a:bodyPr/>
                    <a:lstStyle/>
                    <a:p>
                      <a:pPr marL="91440">
                        <a:spcBef>
                          <a:spcPts val="1210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45"/>
                        </a:lnSpc>
                        <a:spcBef>
                          <a:spcPts val="260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Анализ</a:t>
                      </a:r>
                      <a:r>
                        <a:rPr lang="ru-RU" sz="1400" spc="-3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предметной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области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проектирование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БД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210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1-2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037392599"/>
                  </a:ext>
                </a:extLst>
              </a:tr>
              <a:tr h="646755">
                <a:tc>
                  <a:txBody>
                    <a:bodyPr/>
                    <a:lstStyle/>
                    <a:p>
                      <a:pPr marL="91440">
                        <a:spcBef>
                          <a:spcPts val="1310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50"/>
                        </a:lnSpc>
                        <a:spcBef>
                          <a:spcPts val="360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9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ru-RU" sz="1400" spc="-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AgroControlAPI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ru-RU" sz="1400" spc="-9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</a:t>
                      </a:r>
                      <a:r>
                        <a:rPr lang="ru-RU" sz="1400" spc="-9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2"/>
                        </a:rPr>
                        <a:t>ASP.NET</a:t>
                      </a:r>
                      <a:r>
                        <a:rPr lang="ru-RU" sz="1400" spc="-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Core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50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8.0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10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3-4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80231759"/>
                  </a:ext>
                </a:extLst>
              </a:tr>
              <a:tr h="620703">
                <a:tc>
                  <a:txBody>
                    <a:bodyPr/>
                    <a:lstStyle/>
                    <a:p>
                      <a:pPr marL="91440">
                        <a:spcBef>
                          <a:spcPts val="131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45"/>
                        </a:lnSpc>
                        <a:spcBef>
                          <a:spcPts val="365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модуля</a:t>
                      </a:r>
                      <a:r>
                        <a:rPr lang="ru-RU" sz="1400" spc="-4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технолога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ru-RU" sz="1400" spc="-1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TechnologistModule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15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5-6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607427833"/>
                  </a:ext>
                </a:extLst>
              </a:tr>
              <a:tr h="620703">
                <a:tc>
                  <a:txBody>
                    <a:bodyPr/>
                    <a:lstStyle/>
                    <a:p>
                      <a:pPr marL="91440">
                        <a:spcBef>
                          <a:spcPts val="131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45"/>
                        </a:lnSpc>
                        <a:spcBef>
                          <a:spcPts val="365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модуля</a:t>
                      </a:r>
                      <a:r>
                        <a:rPr lang="ru-RU" sz="1400" spc="-4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лаборатории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ru-RU" sz="1400" spc="-1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LaboratoryModule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15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7-8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59904283"/>
                  </a:ext>
                </a:extLst>
              </a:tr>
              <a:tr h="620703">
                <a:tc>
                  <a:txBody>
                    <a:bodyPr/>
                    <a:lstStyle/>
                    <a:p>
                      <a:pPr marL="91440">
                        <a:spcBef>
                          <a:spcPts val="131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ts val="2045"/>
                        </a:lnSpc>
                        <a:spcBef>
                          <a:spcPts val="365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модуля</a:t>
                      </a:r>
                      <a:r>
                        <a:rPr lang="ru-RU" sz="1400" spc="-4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аппаратчика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1920">
                        <a:lnSpc>
                          <a:spcPts val="2045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ru-RU" sz="1400" spc="-1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OperatorModule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15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9-10</a:t>
                      </a:r>
                      <a:r>
                        <a:rPr lang="ru-RU" sz="1400" spc="-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262286674"/>
                  </a:ext>
                </a:extLst>
              </a:tr>
              <a:tr h="438164">
                <a:tc>
                  <a:txBody>
                    <a:bodyPr/>
                    <a:lstStyle/>
                    <a:p>
                      <a:pPr marL="91440">
                        <a:spcBef>
                          <a:spcPts val="600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spcBef>
                          <a:spcPts val="600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Интеграция</a:t>
                      </a:r>
                      <a:r>
                        <a:rPr lang="ru-RU" sz="14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модулей</a:t>
                      </a:r>
                      <a:r>
                        <a:rPr lang="ru-RU" sz="1400" spc="-8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</a:t>
                      </a:r>
                      <a:r>
                        <a:rPr lang="ru-RU" sz="1400" spc="-5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600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11-12</a:t>
                      </a:r>
                      <a:r>
                        <a:rPr lang="ru-RU" sz="14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67614553"/>
                  </a:ext>
                </a:extLst>
              </a:tr>
              <a:tr h="609359">
                <a:tc>
                  <a:txBody>
                    <a:bodyPr/>
                    <a:lstStyle/>
                    <a:p>
                      <a:pPr marL="91440">
                        <a:spcBef>
                          <a:spcPts val="1320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lnSpc>
                          <a:spcPct val="85000"/>
                        </a:lnSpc>
                        <a:spcBef>
                          <a:spcPts val="610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400" spc="-10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тестов</a:t>
                      </a:r>
                      <a:r>
                        <a:rPr lang="ru-RU" sz="1400" spc="-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(ручные,</a:t>
                      </a:r>
                      <a:r>
                        <a:rPr lang="ru-RU" sz="1400" spc="-10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модульные,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интеграционные)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1320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110320238"/>
                  </a:ext>
                </a:extLst>
              </a:tr>
              <a:tr h="438164">
                <a:tc>
                  <a:txBody>
                    <a:bodyPr/>
                    <a:lstStyle/>
                    <a:p>
                      <a:pPr marL="91440">
                        <a:spcBef>
                          <a:spcPts val="60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spcBef>
                          <a:spcPts val="605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Отладка</a:t>
                      </a:r>
                      <a:r>
                        <a:rPr lang="ru-RU" sz="1400" spc="-7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400" spc="-3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исправление</a:t>
                      </a:r>
                      <a:r>
                        <a:rPr lang="ru-RU" sz="1400" spc="-3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ошибок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605"/>
                        </a:spcBef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 </a:t>
                      </a:r>
                      <a:r>
                        <a:rPr lang="ru-RU" sz="14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535421559"/>
                  </a:ext>
                </a:extLst>
              </a:tr>
              <a:tr h="438164">
                <a:tc>
                  <a:txBody>
                    <a:bodyPr/>
                    <a:lstStyle/>
                    <a:p>
                      <a:pPr marL="91440">
                        <a:spcBef>
                          <a:spcPts val="605"/>
                        </a:spcBef>
                        <a:buNone/>
                      </a:pPr>
                      <a:r>
                        <a:rPr lang="ru-RU" sz="1400" spc="-5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1920">
                        <a:spcBef>
                          <a:spcPts val="605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Оформление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отчёта</a:t>
                      </a:r>
                      <a:r>
                        <a:rPr lang="ru-RU" sz="1400" spc="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 </a:t>
                      </a:r>
                      <a:r>
                        <a:rPr lang="ru-RU" sz="14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презентации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23190">
                        <a:spcBef>
                          <a:spcPts val="605"/>
                        </a:spcBef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 </a:t>
                      </a:r>
                      <a:r>
                        <a:rPr lang="ru-RU" sz="14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день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7107562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2346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Рабочее место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3068960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sz="20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Характеристики компьютера:</a:t>
            </a: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5E7D1CE1-B82C-9C34-0F4F-35070CFB1F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5225033"/>
              </p:ext>
            </p:extLst>
          </p:nvPr>
        </p:nvGraphicFramePr>
        <p:xfrm>
          <a:off x="414216" y="3691479"/>
          <a:ext cx="8406256" cy="276185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4203128">
                  <a:extLst>
                    <a:ext uri="{9D8B030D-6E8A-4147-A177-3AD203B41FA5}">
                      <a16:colId xmlns:a16="http://schemas.microsoft.com/office/drawing/2014/main" val="3765770522"/>
                    </a:ext>
                  </a:extLst>
                </a:gridCol>
                <a:gridCol w="4203128">
                  <a:extLst>
                    <a:ext uri="{9D8B030D-6E8A-4147-A177-3AD203B41FA5}">
                      <a16:colId xmlns:a16="http://schemas.microsoft.com/office/drawing/2014/main" val="1710878607"/>
                    </a:ext>
                  </a:extLst>
                </a:gridCol>
              </a:tblGrid>
              <a:tr h="450092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Компонент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Характеристика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51197651"/>
                  </a:ext>
                </a:extLst>
              </a:tr>
              <a:tr h="450092">
                <a:tc>
                  <a:txBody>
                    <a:bodyPr/>
                    <a:lstStyle/>
                    <a:p>
                      <a:pPr marL="91440">
                        <a:spcBef>
                          <a:spcPts val="170"/>
                        </a:spcBef>
                        <a:buNone/>
                      </a:pP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Процессор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170"/>
                        </a:spcBef>
                        <a:buNone/>
                      </a:pP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Intel</a:t>
                      </a:r>
                      <a:r>
                        <a:rPr lang="en-US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Core</a:t>
                      </a:r>
                      <a:r>
                        <a:rPr lang="en-US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i5-12450H</a:t>
                      </a:r>
                      <a:r>
                        <a:rPr lang="en-US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4195672"/>
                  </a:ext>
                </a:extLst>
              </a:tr>
              <a:tr h="465612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Оперативная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память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r>
                        <a:rPr lang="ru-RU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ГБ</a:t>
                      </a:r>
                      <a:r>
                        <a:rPr lang="ru-RU" sz="1800" spc="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DDR4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285926"/>
                  </a:ext>
                </a:extLst>
              </a:tr>
              <a:tr h="465612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Накопитель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SSD 512</a:t>
                      </a:r>
                      <a:r>
                        <a:rPr lang="ru-RU" sz="1800" spc="-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ГБ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213733"/>
                  </a:ext>
                </a:extLst>
              </a:tr>
              <a:tr h="464836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Видеокарта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NVIDIA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GeForce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RTX</a:t>
                      </a:r>
                      <a:r>
                        <a:rPr lang="ru-RU" sz="1800" spc="-1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4050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774761"/>
                  </a:ext>
                </a:extLst>
              </a:tr>
              <a:tr h="465612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Операционная</a:t>
                      </a:r>
                      <a:r>
                        <a:rPr lang="ru-RU" sz="1800" spc="-25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система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Windows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883541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4E732CE2-1258-2D7E-1CEA-9D477EA9A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98475"/>
            <a:ext cx="4631162" cy="14218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536406" tIns="188853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Периферийные устройства: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Монитор: 15.6" IPS (1920x1080)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Клавиатура: встроенная ноутбучная </a:t>
            </a:r>
            <a:endParaRPr kumimoji="0" lang="en-US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Мышь: Logitech </a:t>
            </a:r>
            <a:r>
              <a:rPr kumimoji="0" lang="en-US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G102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9958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EFC647-88CE-C2F3-EE30-8EE0E6591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10EF99-D9DF-D7ED-D7E4-D4C244CF8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871AF45-948F-D295-754E-E2FD56A470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039725"/>
              </p:ext>
            </p:extLst>
          </p:nvPr>
        </p:nvGraphicFramePr>
        <p:xfrm>
          <a:off x="323528" y="1655700"/>
          <a:ext cx="8568952" cy="465302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4284476">
                  <a:extLst>
                    <a:ext uri="{9D8B030D-6E8A-4147-A177-3AD203B41FA5}">
                      <a16:colId xmlns:a16="http://schemas.microsoft.com/office/drawing/2014/main" val="1426121117"/>
                    </a:ext>
                  </a:extLst>
                </a:gridCol>
                <a:gridCol w="4284476">
                  <a:extLst>
                    <a:ext uri="{9D8B030D-6E8A-4147-A177-3AD203B41FA5}">
                      <a16:colId xmlns:a16="http://schemas.microsoft.com/office/drawing/2014/main" val="378620072"/>
                    </a:ext>
                  </a:extLst>
                </a:gridCol>
              </a:tblGrid>
              <a:tr h="525049">
                <a:tc>
                  <a:txBody>
                    <a:bodyPr/>
                    <a:lstStyle/>
                    <a:p>
                      <a:pPr marL="91440">
                        <a:spcBef>
                          <a:spcPts val="265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65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576122816"/>
                  </a:ext>
                </a:extLst>
              </a:tr>
              <a:tr h="525049">
                <a:tc>
                  <a:txBody>
                    <a:bodyPr/>
                    <a:lstStyle/>
                    <a:p>
                      <a:pPr marL="91440">
                        <a:spcBef>
                          <a:spcPts val="165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</a:t>
                      </a:r>
                      <a:r>
                        <a:rPr lang="ru-RU" sz="18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Studio </a:t>
                      </a:r>
                      <a:r>
                        <a:rPr lang="ru-RU" sz="1800" spc="-2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2022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165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</a:t>
                      </a:r>
                      <a:r>
                        <a:rPr lang="ru-RU" sz="1800" spc="-4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ru-RU" sz="1800" spc="-5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WPF-модулей</a:t>
                      </a:r>
                      <a:r>
                        <a:rPr lang="ru-RU" sz="1800" spc="-6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C#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928016"/>
                  </a:ext>
                </a:extLst>
              </a:tr>
              <a:tr h="887153">
                <a:tc>
                  <a:txBody>
                    <a:bodyPr/>
                    <a:lstStyle/>
                    <a:p>
                      <a:pPr marL="91440">
                        <a:spcBef>
                          <a:spcPts val="1215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</a:t>
                      </a:r>
                      <a:r>
                        <a:rPr lang="ru-RU" sz="1800" spc="-2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Management</a:t>
                      </a:r>
                      <a:r>
                        <a:rPr lang="ru-RU" sz="1800" spc="-3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Studio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ts val="2050"/>
                        </a:lnSpc>
                        <a:spcBef>
                          <a:spcPts val="265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Проектирование</a:t>
                      </a:r>
                      <a:r>
                        <a:rPr lang="ru-RU" sz="1800" spc="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</a:t>
                      </a:r>
                      <a:r>
                        <a:rPr lang="ru-RU" sz="1800" spc="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администрирование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22555">
                        <a:lnSpc>
                          <a:spcPts val="2050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базы</a:t>
                      </a:r>
                      <a:r>
                        <a:rPr lang="ru-RU" sz="1800" spc="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данных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102779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</a:t>
                      </a:r>
                      <a:r>
                        <a:rPr lang="ru-RU" sz="1800" spc="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1800" spc="-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GitHub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Система</a:t>
                      </a:r>
                      <a:r>
                        <a:rPr lang="ru-RU" sz="1800" spc="-5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контроля</a:t>
                      </a:r>
                      <a:r>
                        <a:rPr lang="ru-RU" sz="1800" spc="-4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версий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663831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Postman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Тестирование</a:t>
                      </a:r>
                      <a:r>
                        <a:rPr lang="ru-RU" sz="1800" spc="-8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ru-RU" sz="1800" spc="-7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запросов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303748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Figma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Прототипирование</a:t>
                      </a:r>
                      <a:r>
                        <a:rPr lang="ru-RU" sz="1800" spc="-3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интерфейсов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4527303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Swagger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Документирование</a:t>
                      </a:r>
                      <a:r>
                        <a:rPr lang="ru-RU" sz="1800" spc="-3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2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207211"/>
                  </a:ext>
                </a:extLst>
              </a:tr>
              <a:tr h="543155">
                <a:tc>
                  <a:txBody>
                    <a:bodyPr/>
                    <a:lstStyle/>
                    <a:p>
                      <a:pPr marL="91440">
                        <a:spcBef>
                          <a:spcPts val="270"/>
                        </a:spcBef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Microsoft</a:t>
                      </a:r>
                      <a:r>
                        <a:rPr lang="ru-RU" sz="1800" spc="-6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Office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2555">
                        <a:spcBef>
                          <a:spcPts val="270"/>
                        </a:spcBef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Оформление</a:t>
                      </a:r>
                      <a:r>
                        <a:rPr lang="ru-RU" sz="1800" spc="5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spc="-1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отчёта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26529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1D904866-90D3-D0F9-DCC5-BD4D9BCDE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684584" y="36576"/>
            <a:ext cx="10008096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Используемые на практике</a:t>
            </a:r>
            <a:endParaRPr kumimoji="0" lang="ru-RU" altLang="ru-RU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программы</a:t>
            </a:r>
            <a:endParaRPr kumimoji="0" lang="ru-RU" altLang="ru-RU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80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27F00A7-77D2-E8EF-0953-C18AA9ED5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784" y="1782049"/>
            <a:ext cx="6445177" cy="4777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77C071E-491B-99FD-C313-C94789835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B10CE8E4-3C1D-C9C9-3BBD-06E59024F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AAB90E-C028-F389-D662-853EB9F3014A}"/>
              </a:ext>
            </a:extLst>
          </p:cNvPr>
          <p:cNvSpPr txBox="1"/>
          <p:nvPr/>
        </p:nvSpPr>
        <p:spPr>
          <a:xfrm>
            <a:off x="71039" y="2018759"/>
            <a:ext cx="2799757" cy="466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buNone/>
            </a:pP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данных содержит 14 таблиц, нормализованных до 3НФ.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None/>
            </a:pP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таблицы: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Пользователи, Продукция, Сырьё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Рецептуры,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СоставРецептуры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ТехКарты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ШагиТехКарты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ПроизводственныеЗаказы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ПроизводственныеПартии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ВыполнениеШаговПартии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ЛабораторныеИспытания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ПартииСырья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ЖурналСобытий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Оборудование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509D60-F5C1-A8FA-42FA-543734B889FD}"/>
              </a:ext>
            </a:extLst>
          </p:cNvPr>
          <p:cNvSpPr txBox="1"/>
          <p:nvPr/>
        </p:nvSpPr>
        <p:spPr>
          <a:xfrm>
            <a:off x="683568" y="133271"/>
            <a:ext cx="80032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1. Анализ предметной области и проектирование БД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D041EB-7A62-4B66-D476-282907A89ED8}"/>
              </a:ext>
            </a:extLst>
          </p:cNvPr>
          <p:cNvSpPr txBox="1"/>
          <p:nvPr/>
        </p:nvSpPr>
        <p:spPr>
          <a:xfrm>
            <a:off x="125768" y="640981"/>
            <a:ext cx="911883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анализ бизнес-процессов предприятия по производству средств защиты растений. Выделены ключевые сущности: продукция, сырьё, рецептуры, технологические карты, заказы, партии, испытания.</a:t>
            </a:r>
          </a:p>
        </p:txBody>
      </p:sp>
    </p:spTree>
    <p:extLst>
      <p:ext uri="{BB962C8B-B14F-4D97-AF65-F5344CB8AC3E}">
        <p14:creationId xmlns:p14="http://schemas.microsoft.com/office/powerpoint/2010/main" val="3117044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B8621D-FCB0-5514-4E1D-9C6E21AF2CA0}"/>
              </a:ext>
            </a:extLst>
          </p:cNvPr>
          <p:cNvSpPr txBox="1"/>
          <p:nvPr/>
        </p:nvSpPr>
        <p:spPr>
          <a:xfrm>
            <a:off x="16408" y="1925474"/>
            <a:ext cx="3043424" cy="43832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контроллеры: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AuthController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 (</a:t>
            </a: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BCrypt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ProductsController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RecipesController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TechCardsController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справочники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BatchesController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партиями (запуск, шаги, фактические данные)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QualityControlController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лабораторные испытания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ReportsController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отчёты (хранимые процедуры)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3F8DF-5618-B461-B7FC-665FA669DBBF}"/>
              </a:ext>
            </a:extLst>
          </p:cNvPr>
          <p:cNvSpPr txBox="1"/>
          <p:nvPr/>
        </p:nvSpPr>
        <p:spPr>
          <a:xfrm>
            <a:off x="457200" y="76460"/>
            <a:ext cx="8686800" cy="407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2. Разработка </a:t>
            </a:r>
            <a:r>
              <a:rPr lang="en-US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API (</a:t>
            </a:r>
            <a:r>
              <a:rPr lang="en-US" sz="28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AgroControl.API</a:t>
            </a:r>
            <a:r>
              <a:rPr lang="en-US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32AF3C-0C9A-2D14-3824-30D242DA3ADF}"/>
              </a:ext>
            </a:extLst>
          </p:cNvPr>
          <p:cNvSpPr txBox="1"/>
          <p:nvPr/>
        </p:nvSpPr>
        <p:spPr>
          <a:xfrm>
            <a:off x="16408" y="626477"/>
            <a:ext cx="91275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</a:t>
            </a:r>
            <a:r>
              <a:rPr lang="en-US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на </a:t>
            </a:r>
            <a:r>
              <a:rPr lang="en-US" sz="1600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ASP.NET</a:t>
            </a:r>
            <a:r>
              <a:rPr lang="en-US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Core 8.0 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 использованием </a:t>
            </a:r>
            <a:r>
              <a:rPr lang="en-US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Entity Framework Core. 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Реализовано 12 контроллеров для обслуживания всех трёх модулей.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0653D34-86D0-029D-55AC-DAB5967EA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240" y="2736345"/>
            <a:ext cx="6067760" cy="36929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20384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16A50B-12F0-5A69-699A-E02A0D81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F00281-B4AD-BB84-00C0-F07216625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76697" y="3795761"/>
            <a:ext cx="2818656" cy="75294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Главное окно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CFBFD1-1FB6-8AD2-21B1-43C8681CDEF8}"/>
              </a:ext>
            </a:extLst>
          </p:cNvPr>
          <p:cNvSpPr txBox="1"/>
          <p:nvPr/>
        </p:nvSpPr>
        <p:spPr>
          <a:xfrm>
            <a:off x="0" y="1899264"/>
            <a:ext cx="3275856" cy="3983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страницы: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(дашборд)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Продукция (CRUD, архив)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Рецептуры (создание версий, добавление компонентов)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Тех. карты (шаги с параметрами)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Заказы и партии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Отчёты (экспорт CSV/Excel)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AA0B98-EADD-97CA-1CB1-00757FCEBDBE}"/>
              </a:ext>
            </a:extLst>
          </p:cNvPr>
          <p:cNvSpPr txBox="1"/>
          <p:nvPr/>
        </p:nvSpPr>
        <p:spPr>
          <a:xfrm>
            <a:off x="457200" y="63498"/>
            <a:ext cx="8363272" cy="404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3. Модуль технолога (</a:t>
            </a:r>
            <a:r>
              <a:rPr lang="ru-RU" sz="24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AgroControl.Technologist</a:t>
            </a: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F6A78F-B020-8A92-5509-969ADEA2B634}"/>
              </a:ext>
            </a:extLst>
          </p:cNvPr>
          <p:cNvSpPr txBox="1"/>
          <p:nvPr/>
        </p:nvSpPr>
        <p:spPr>
          <a:xfrm>
            <a:off x="67228" y="385552"/>
            <a:ext cx="91432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Разработано WPF-приложение для управления производственной документацией.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B32A49D-EFC7-AF7E-0787-8D5B931F6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60" y="1053621"/>
            <a:ext cx="4798347" cy="27999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65A60AC-A93B-F168-3B09-9DACBA5051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824" y="3890835"/>
            <a:ext cx="4645465" cy="2705686"/>
          </a:xfrm>
          <a:prstGeom prst="rect">
            <a:avLst/>
          </a:prstGeom>
        </p:spPr>
      </p:pic>
      <p:sp>
        <p:nvSpPr>
          <p:cNvPr id="12" name="Объект 2">
            <a:extLst>
              <a:ext uri="{FF2B5EF4-FFF2-40B4-BE49-F238E27FC236}">
                <a16:creationId xmlns:a16="http://schemas.microsoft.com/office/drawing/2014/main" id="{1DFE8294-DC61-D551-1BD1-CB42824EE61B}"/>
              </a:ext>
            </a:extLst>
          </p:cNvPr>
          <p:cNvSpPr txBox="1">
            <a:spLocks/>
          </p:cNvSpPr>
          <p:nvPr/>
        </p:nvSpPr>
        <p:spPr>
          <a:xfrm>
            <a:off x="5449457" y="6549410"/>
            <a:ext cx="2818656" cy="7529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Отчёты</a:t>
            </a:r>
          </a:p>
        </p:txBody>
      </p:sp>
    </p:spTree>
    <p:extLst>
      <p:ext uri="{BB962C8B-B14F-4D97-AF65-F5344CB8AC3E}">
        <p14:creationId xmlns:p14="http://schemas.microsoft.com/office/powerpoint/2010/main" val="3979425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0C73A7-70DB-ABDF-5F9E-A581F1175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E52EFF-A977-EFA3-5BED-6D0768C42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8857" y="4317852"/>
            <a:ext cx="2386608" cy="3929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Карточка партии сырья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0D91A1-1449-3199-F6CA-E618C139ED82}"/>
              </a:ext>
            </a:extLst>
          </p:cNvPr>
          <p:cNvSpPr txBox="1"/>
          <p:nvPr/>
        </p:nvSpPr>
        <p:spPr>
          <a:xfrm>
            <a:off x="0" y="1440116"/>
            <a:ext cx="2759402" cy="5306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разделы: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Партии сырья (фильтры: поиск, статус, поставщик, дата, только с испытаниями)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Готовая продукция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Испытания (CRUD)</a:t>
            </a:r>
          </a:p>
          <a:p>
            <a:pPr algn="l">
              <a:spcBef>
                <a:spcPts val="1200"/>
              </a:spcBef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Карточка партии сырья: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Информационная панель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Таблица испытаний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Блок принятия решения (с комментарием, обязательным при блокировке)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 решений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5AD90-FBB4-069A-DA73-8722B249FB10}"/>
              </a:ext>
            </a:extLst>
          </p:cNvPr>
          <p:cNvSpPr txBox="1"/>
          <p:nvPr/>
        </p:nvSpPr>
        <p:spPr>
          <a:xfrm>
            <a:off x="457200" y="-2280"/>
            <a:ext cx="8686800" cy="404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4. Модуль лаборатории (</a:t>
            </a:r>
            <a:r>
              <a:rPr lang="ru-RU" sz="24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AgroControl.Laboratory</a:t>
            </a: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64B90-893E-9E00-93BA-5567FD9BE99C}"/>
              </a:ext>
            </a:extLst>
          </p:cNvPr>
          <p:cNvSpPr txBox="1"/>
          <p:nvPr/>
        </p:nvSpPr>
        <p:spPr>
          <a:xfrm>
            <a:off x="-12331" y="537797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WPF-приложение для контроля качества сырья и готовой продукции.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6E8057E-43B8-D818-3492-B5B7DBC9B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012" y="1393919"/>
            <a:ext cx="3639075" cy="28860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EBC535F-AFBB-6C04-49C6-D34DA5FD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402" y="3279142"/>
            <a:ext cx="2711270" cy="327562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Объект 2">
            <a:extLst>
              <a:ext uri="{FF2B5EF4-FFF2-40B4-BE49-F238E27FC236}">
                <a16:creationId xmlns:a16="http://schemas.microsoft.com/office/drawing/2014/main" id="{B81CB76A-0391-1B6D-C625-0E36722C6BAE}"/>
              </a:ext>
            </a:extLst>
          </p:cNvPr>
          <p:cNvSpPr txBox="1">
            <a:spLocks/>
          </p:cNvSpPr>
          <p:nvPr/>
        </p:nvSpPr>
        <p:spPr>
          <a:xfrm>
            <a:off x="2987824" y="6550244"/>
            <a:ext cx="2711270" cy="3929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 создания испытания</a:t>
            </a:r>
          </a:p>
        </p:txBody>
      </p:sp>
    </p:spTree>
    <p:extLst>
      <p:ext uri="{BB962C8B-B14F-4D97-AF65-F5344CB8AC3E}">
        <p14:creationId xmlns:p14="http://schemas.microsoft.com/office/powerpoint/2010/main" val="1976711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3C4954-C41F-0F11-86CE-9D1591DE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226240-D530-1B72-FA6F-9187E98FB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04C963-C73A-14EE-AFA2-EFFE5038FE9D}"/>
              </a:ext>
            </a:extLst>
          </p:cNvPr>
          <p:cNvSpPr txBox="1"/>
          <p:nvPr/>
        </p:nvSpPr>
        <p:spPr>
          <a:xfrm>
            <a:off x="0" y="943933"/>
            <a:ext cx="3203848" cy="5978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Экраны: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Активные партии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таблица с индикацией предупреждений и критических отклонений. Двойной клик – переход в программу партии.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 партии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список шагов слева, детали шага справа (плановые/фактические параметры, кнопки «Начать шаг», «Сохранить данные», «Завершить шаг»).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Экструдер LIVE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– автоматическое обновление каждые 5 секунд (температура, давление, скорость шнека).</a:t>
            </a:r>
          </a:p>
          <a:p>
            <a:pPr algn="l"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Журнал партии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Сообщить о проблеме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Все проблемы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4C28FA-58E5-F810-A95E-B94BA52C06D0}"/>
              </a:ext>
            </a:extLst>
          </p:cNvPr>
          <p:cNvSpPr txBox="1"/>
          <p:nvPr/>
        </p:nvSpPr>
        <p:spPr>
          <a:xfrm>
            <a:off x="457200" y="-44782"/>
            <a:ext cx="8229600" cy="404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5. Модуль аппаратчика (</a:t>
            </a:r>
            <a:r>
              <a:rPr lang="ru-RU" sz="24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AgroControl.Operator</a:t>
            </a: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2D6009-2117-2029-4B61-1BC0AC3013EF}"/>
              </a:ext>
            </a:extLst>
          </p:cNvPr>
          <p:cNvSpPr txBox="1"/>
          <p:nvPr/>
        </p:nvSpPr>
        <p:spPr>
          <a:xfrm>
            <a:off x="0" y="217379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Краткое описание:</a:t>
            </a:r>
            <a:b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WPF-приложение для выполнения технологических операций.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36618CE-6B86-2C8F-F800-B2D898E14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041" y="838890"/>
            <a:ext cx="4592959" cy="269651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0581453-76E2-66E3-C49F-A98721C40BB5}"/>
              </a:ext>
            </a:extLst>
          </p:cNvPr>
          <p:cNvSpPr txBox="1"/>
          <p:nvPr/>
        </p:nvSpPr>
        <p:spPr>
          <a:xfrm>
            <a:off x="7297689" y="3474872"/>
            <a:ext cx="4639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Активные партии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5F174F1-B5E9-DB6A-8315-637BE7223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048" y="3830907"/>
            <a:ext cx="4715739" cy="27524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76EDB2D-E265-B2D4-2BD2-903DF7FBD905}"/>
              </a:ext>
            </a:extLst>
          </p:cNvPr>
          <p:cNvSpPr txBox="1"/>
          <p:nvPr/>
        </p:nvSpPr>
        <p:spPr>
          <a:xfrm>
            <a:off x="5806480" y="6511141"/>
            <a:ext cx="4639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 партии</a:t>
            </a:r>
          </a:p>
        </p:txBody>
      </p:sp>
    </p:spTree>
    <p:extLst>
      <p:ext uri="{BB962C8B-B14F-4D97-AF65-F5344CB8AC3E}">
        <p14:creationId xmlns:p14="http://schemas.microsoft.com/office/powerpoint/2010/main" val="3977778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60769B-2C4D-107E-638A-88B4728B9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848" y="274638"/>
            <a:ext cx="8229600" cy="11430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ED2E64E-D035-C436-C7C0-4140B5D6E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848" y="160020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B996F6E9-9DE1-5D83-2310-EBF05EF0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903368"/>
              </p:ext>
            </p:extLst>
          </p:nvPr>
        </p:nvGraphicFramePr>
        <p:xfrm>
          <a:off x="171456" y="1759100"/>
          <a:ext cx="8793030" cy="3285982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1879155">
                  <a:extLst>
                    <a:ext uri="{9D8B030D-6E8A-4147-A177-3AD203B41FA5}">
                      <a16:colId xmlns:a16="http://schemas.microsoft.com/office/drawing/2014/main" val="541131116"/>
                    </a:ext>
                  </a:extLst>
                </a:gridCol>
                <a:gridCol w="2304625">
                  <a:extLst>
                    <a:ext uri="{9D8B030D-6E8A-4147-A177-3AD203B41FA5}">
                      <a16:colId xmlns:a16="http://schemas.microsoft.com/office/drawing/2014/main" val="1392099284"/>
                    </a:ext>
                  </a:extLst>
                </a:gridCol>
                <a:gridCol w="2304625">
                  <a:extLst>
                    <a:ext uri="{9D8B030D-6E8A-4147-A177-3AD203B41FA5}">
                      <a16:colId xmlns:a16="http://schemas.microsoft.com/office/drawing/2014/main" val="1993756178"/>
                    </a:ext>
                  </a:extLst>
                </a:gridCol>
                <a:gridCol w="2304625">
                  <a:extLst>
                    <a:ext uri="{9D8B030D-6E8A-4147-A177-3AD203B41FA5}">
                      <a16:colId xmlns:a16="http://schemas.microsoft.com/office/drawing/2014/main" val="1446944735"/>
                    </a:ext>
                  </a:extLst>
                </a:gridCol>
              </a:tblGrid>
              <a:tr h="573257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 тестов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Инструмент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60672248"/>
                  </a:ext>
                </a:extLst>
              </a:tr>
              <a:tr h="89360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Ручные тест-кейсы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Все пройдены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040339575"/>
                  </a:ext>
                </a:extLst>
              </a:tr>
              <a:tr h="89360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Модульные тесты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MSTest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 30/30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173440437"/>
                  </a:ext>
                </a:extLst>
              </a:tr>
              <a:tr h="89360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Интеграционные тесты </a:t>
                      </a:r>
                      <a:r>
                        <a:rPr lang="en-US" sz="2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2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TestHost + InMemory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 10/10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4548739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3B782BE-ABE8-EC78-BD81-10963DF58B67}"/>
              </a:ext>
            </a:extLst>
          </p:cNvPr>
          <p:cNvSpPr txBox="1"/>
          <p:nvPr/>
        </p:nvSpPr>
        <p:spPr>
          <a:xfrm>
            <a:off x="151288" y="138329"/>
            <a:ext cx="89431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6. Разработка тестов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08E36C-B59C-A2A1-12C6-812F84766CCB}"/>
              </a:ext>
            </a:extLst>
          </p:cNvPr>
          <p:cNvSpPr txBox="1"/>
          <p:nvPr/>
        </p:nvSpPr>
        <p:spPr>
          <a:xfrm>
            <a:off x="171456" y="1242024"/>
            <a:ext cx="4803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 тестирования: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60F6FD-8CA6-F7F8-CFBA-1A4D97FBEAD1}"/>
              </a:ext>
            </a:extLst>
          </p:cNvPr>
          <p:cNvSpPr txBox="1"/>
          <p:nvPr/>
        </p:nvSpPr>
        <p:spPr>
          <a:xfrm>
            <a:off x="323528" y="5431310"/>
            <a:ext cx="7632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Доля негативных сценариев: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22,5% (9 из 40) – соответствует ТЗ (&gt;20%).</a:t>
            </a:r>
            <a:endParaRPr kumimoji="0" lang="ru-RU" altLang="ru-RU" sz="28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1242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50D22E-E919-0B50-1583-275C0993B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AA3AD7-6199-303A-83F5-82EC51F57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9F88DC-2935-E4F4-B250-95B632AE1744}"/>
              </a:ext>
            </a:extLst>
          </p:cNvPr>
          <p:cNvSpPr txBox="1"/>
          <p:nvPr/>
        </p:nvSpPr>
        <p:spPr>
          <a:xfrm>
            <a:off x="107504" y="547171"/>
            <a:ext cx="6704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Выявленные и устранённые ошибки (таблиц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ы</a:t>
            </a:r>
            <a:r>
              <a:rPr lang="ru-RU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ru-RU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210890-A524-4A7B-DDD5-89F9A1658C89}"/>
              </a:ext>
            </a:extLst>
          </p:cNvPr>
          <p:cNvSpPr txBox="1"/>
          <p:nvPr/>
        </p:nvSpPr>
        <p:spPr>
          <a:xfrm>
            <a:off x="251520" y="82598"/>
            <a:ext cx="8435280" cy="43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ru-RU" sz="32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Задание 7. Отладка программного модуля</a:t>
            </a: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9C028C2C-592F-EB45-4507-2BA198928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0607237"/>
              </p:ext>
            </p:extLst>
          </p:nvPr>
        </p:nvGraphicFramePr>
        <p:xfrm>
          <a:off x="97272" y="929036"/>
          <a:ext cx="4177578" cy="58319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17538">
                  <a:extLst>
                    <a:ext uri="{9D8B030D-6E8A-4147-A177-3AD203B41FA5}">
                      <a16:colId xmlns:a16="http://schemas.microsoft.com/office/drawing/2014/main" val="2066203632"/>
                    </a:ext>
                  </a:extLst>
                </a:gridCol>
                <a:gridCol w="2760040">
                  <a:extLst>
                    <a:ext uri="{9D8B030D-6E8A-4147-A177-3AD203B41FA5}">
                      <a16:colId xmlns:a16="http://schemas.microsoft.com/office/drawing/2014/main" val="4262163776"/>
                    </a:ext>
                  </a:extLst>
                </a:gridCol>
              </a:tblGrid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TestCase #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API-1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1048760978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Приоритет теста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High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319175341"/>
                  </a:ext>
                </a:extLst>
              </a:tr>
              <a:tr h="349304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тестирования/Имя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Логин с корректными данными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1713466953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Резюме испытания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Проверка успешной аутентификации технолога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2316998796"/>
                  </a:ext>
                </a:extLst>
              </a:tr>
              <a:tr h="1069010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Шаги тестирования</a:t>
                      </a:r>
                      <a:endParaRPr lang="ru-RU" sz="1100" b="1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Запустить сервер API (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AgroControl.API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).</a:t>
                      </a:r>
                      <a:b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В инструменте API-клиента (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Postman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Swagger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отправить POST запрос на 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эндпоинт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/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login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b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В теле запроса передать JSON: {"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Username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": "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tech.ivanov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", "Password": "Password123!"}.</a:t>
                      </a:r>
                      <a:b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Отправить запрос.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547696339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Данные тестирования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Username = tech.ivanov, Password = Password123!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335967007"/>
                  </a:ext>
                </a:extLst>
              </a:tr>
              <a:tr h="349304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Ожидаемый результат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HTTP статус 200. Тело ответа содержит {"success": true, "message": "Вход выполнен"}.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2747123459"/>
                  </a:ext>
                </a:extLst>
              </a:tr>
              <a:tr h="349304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Фактический результат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HTTP статус 200, ответ {"success":true,"message":"Вход выполнен"}.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3449516916"/>
                  </a:ext>
                </a:extLst>
              </a:tr>
              <a:tr h="349304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Предпосылки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Сервер API запущен, база данных содержит пользователя </a:t>
                      </a:r>
                      <a:r>
                        <a:rPr lang="ru-RU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tech.ivanov</a:t>
                      </a: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с паролем Password123!.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3311012199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Постусловия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Сессия не требуется, токен не используется.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2956166375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Статус (Pass/Fail)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Pass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4226059632"/>
                  </a:ext>
                </a:extLst>
              </a:tr>
              <a:tr h="255201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Комментарии</a:t>
                      </a:r>
                      <a:endParaRPr lang="ru-RU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ru-RU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0908" marR="60908" marT="0" marB="0" anchor="ctr"/>
                </a:tc>
                <a:extLst>
                  <a:ext uri="{0D108BD9-81ED-4DB2-BD59-A6C34878D82A}">
                    <a16:rowId xmlns:a16="http://schemas.microsoft.com/office/drawing/2014/main" val="4245416185"/>
                  </a:ext>
                </a:extLst>
              </a:tr>
            </a:tbl>
          </a:graphicData>
        </a:graphic>
      </p:graphicFrame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009BFF41-B535-3C4F-C942-316874AD56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6057807"/>
              </p:ext>
            </p:extLst>
          </p:nvPr>
        </p:nvGraphicFramePr>
        <p:xfrm>
          <a:off x="4572000" y="929036"/>
          <a:ext cx="4464496" cy="58073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14896">
                  <a:extLst>
                    <a:ext uri="{9D8B030D-6E8A-4147-A177-3AD203B41FA5}">
                      <a16:colId xmlns:a16="http://schemas.microsoft.com/office/drawing/2014/main" val="4240350624"/>
                    </a:ext>
                  </a:extLst>
                </a:gridCol>
                <a:gridCol w="2949600">
                  <a:extLst>
                    <a:ext uri="{9D8B030D-6E8A-4147-A177-3AD203B41FA5}">
                      <a16:colId xmlns:a16="http://schemas.microsoft.com/office/drawing/2014/main" val="4250973427"/>
                    </a:ext>
                  </a:extLst>
                </a:gridCol>
              </a:tblGrid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TestCase #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TECH-5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2025953577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Приоритет теста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High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4166131756"/>
                  </a:ext>
                </a:extLst>
              </a:tr>
              <a:tr h="494242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тестирования/Имя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Создание рецептуры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1869097679"/>
                  </a:ext>
                </a:extLst>
              </a:tr>
              <a:tr h="437440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Резюме испытания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Проверка создания рецептуры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3240852448"/>
                  </a:ext>
                </a:extLst>
              </a:tr>
              <a:tr h="1257972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Шаги тестирования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1. Перейти в раздел «Рецептуры».</a:t>
                      </a:r>
                      <a:b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Нажать «Добавить».</a:t>
                      </a:r>
                      <a:b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Выбрать продукт (например, P001).</a:t>
                      </a:r>
                      <a:b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Указать версию = 1, статус = черновик.</a:t>
                      </a:r>
                      <a:b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 Нажать «OK».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3945268825"/>
                  </a:ext>
                </a:extLst>
              </a:tr>
              <a:tr h="437440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Данные тестирования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Продукт = P001, версия = 1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2767955425"/>
                  </a:ext>
                </a:extLst>
              </a:tr>
              <a:tr h="494242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Ожидаемый результат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Рецептура отображается в списке рецептур с указанными данными.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2778911667"/>
                  </a:ext>
                </a:extLst>
              </a:tr>
              <a:tr h="437440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Фактический результат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Рецептура создана.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727287234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Предпосылки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Продукт P001 существует.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2324741040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Постусловия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Рецептуру можно удалить.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3850932184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Статус (Pass/Fail)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Pass</a:t>
                      </a:r>
                      <a:endParaRPr lang="ru-RU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3400209632"/>
                  </a:ext>
                </a:extLst>
              </a:tr>
              <a:tr h="368978">
                <a:tc>
                  <a:txBody>
                    <a:bodyPr/>
                    <a:lstStyle/>
                    <a:p>
                      <a:pPr indent="1530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Комментарии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</a:t>
                      </a:r>
                      <a:endParaRPr lang="ru-RU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5973" marR="65973" marT="0" marB="0" anchor="ctr"/>
                </a:tc>
                <a:extLst>
                  <a:ext uri="{0D108BD9-81ED-4DB2-BD59-A6C34878D82A}">
                    <a16:rowId xmlns:a16="http://schemas.microsoft.com/office/drawing/2014/main" val="1889596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9620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C6B634-9CD0-0B45-6DFF-8EA896A59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96552" y="1553835"/>
            <a:ext cx="8229600" cy="1143000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5F460DB-BE9D-5D59-D600-F1095D3E9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3396494"/>
              </p:ext>
            </p:extLst>
          </p:nvPr>
        </p:nvGraphicFramePr>
        <p:xfrm>
          <a:off x="564369" y="620688"/>
          <a:ext cx="8003166" cy="5807774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67722">
                  <a:extLst>
                    <a:ext uri="{9D8B030D-6E8A-4147-A177-3AD203B41FA5}">
                      <a16:colId xmlns:a16="http://schemas.microsoft.com/office/drawing/2014/main" val="1944581442"/>
                    </a:ext>
                  </a:extLst>
                </a:gridCol>
                <a:gridCol w="2667722">
                  <a:extLst>
                    <a:ext uri="{9D8B030D-6E8A-4147-A177-3AD203B41FA5}">
                      <a16:colId xmlns:a16="http://schemas.microsoft.com/office/drawing/2014/main" val="4263503372"/>
                    </a:ext>
                  </a:extLst>
                </a:gridCol>
                <a:gridCol w="2667722">
                  <a:extLst>
                    <a:ext uri="{9D8B030D-6E8A-4147-A177-3AD203B41FA5}">
                      <a16:colId xmlns:a16="http://schemas.microsoft.com/office/drawing/2014/main" val="2436839837"/>
                    </a:ext>
                  </a:extLst>
                </a:gridCol>
              </a:tblGrid>
              <a:tr h="427557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Риск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Описание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Пути решения</a:t>
                      </a:r>
                    </a:p>
                  </a:txBody>
                  <a:tcPr marL="96127" marR="96127" marT="60079" marB="60079" anchor="ctr"/>
                </a:tc>
                <a:extLst>
                  <a:ext uri="{0D108BD9-81ED-4DB2-BD59-A6C34878D82A}">
                    <a16:rowId xmlns:a16="http://schemas.microsoft.com/office/drawing/2014/main" val="1580438724"/>
                  </a:ext>
                </a:extLst>
              </a:tr>
              <a:tr h="130705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Несовместимость платформ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Тестовые проекты на .NET Framework не работали с модулями на .NET 8.0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Использование собственных тестовых классов </a:t>
                      </a:r>
                      <a:r>
                        <a:rPr lang="ru-RU" sz="20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TestHelpers</a:t>
                      </a: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вместо прямых ссылок</a:t>
                      </a: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1904963480"/>
                  </a:ext>
                </a:extLst>
              </a:tr>
              <a:tr h="1018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Ошибки </a:t>
                      </a:r>
                      <a:r>
                        <a:rPr lang="en-US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NULL </a:t>
                      </a: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БД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Некоторые поля имели NULL значения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Добавлены проверки IsDBNull(), заполнены начальные данные</a:t>
                      </a: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1968013631"/>
                  </a:ext>
                </a:extLst>
              </a:tr>
              <a:tr h="1018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Несоответствие </a:t>
                      </a:r>
                      <a:r>
                        <a:rPr lang="en-US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JSON </a:t>
                      </a: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полей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Модели не имели [</a:t>
                      </a:r>
                      <a:r>
                        <a:rPr lang="en-US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JsonPropertyName]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Добавлены атрибуты или отключён camelCase в Program.cs</a:t>
                      </a: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2891101585"/>
                  </a:ext>
                </a:extLst>
              </a:tr>
              <a:tr h="92203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Проблемы с </a:t>
                      </a:r>
                      <a:r>
                        <a:rPr lang="en-US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CORS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 не принимал запросы с локальных модулей</a:t>
                      </a: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ru-RU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Настроена политика </a:t>
                      </a:r>
                      <a:r>
                        <a:rPr lang="en-US" sz="20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AllowAnyOrigin()</a:t>
                      </a: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3660047446"/>
                  </a:ext>
                </a:extLst>
              </a:tr>
              <a:tr h="111454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Ошибки авторизации</a:t>
                      </a:r>
                    </a:p>
                  </a:txBody>
                  <a:tcPr marL="57676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правильный пароль</a:t>
                      </a:r>
                      <a:endParaRPr lang="en-US" sz="20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6127" marR="96127" marT="60079" marB="600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</a:t>
                      </a:r>
                      <a:r>
                        <a:rPr lang="ru-RU" sz="20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бд</a:t>
                      </a: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исправился </a:t>
                      </a:r>
                      <a:r>
                        <a:rPr lang="en-US" sz="20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hesh</a:t>
                      </a:r>
                      <a:r>
                        <a:rPr lang="ru-RU" sz="20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2000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пороля</a:t>
                      </a:r>
                      <a:endParaRPr lang="ru-RU" sz="20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6127" marR="57676" marT="60079" marB="60079" anchor="ctr"/>
                </a:tc>
                <a:extLst>
                  <a:ext uri="{0D108BD9-81ED-4DB2-BD59-A6C34878D82A}">
                    <a16:rowId xmlns:a16="http://schemas.microsoft.com/office/drawing/2014/main" val="93135854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D9D2851-CD31-C9C6-435A-FFA768FB7B85}"/>
              </a:ext>
            </a:extLst>
          </p:cNvPr>
          <p:cNvSpPr txBox="1"/>
          <p:nvPr/>
        </p:nvSpPr>
        <p:spPr>
          <a:xfrm>
            <a:off x="179512" y="-148176"/>
            <a:ext cx="86409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2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Риски практики и пути решения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32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BCFB420C-6117-35FE-2082-92D9CED44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152" y="228872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1721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-243408"/>
            <a:ext cx="8229600" cy="1143000"/>
          </a:xfrm>
        </p:spPr>
        <p:txBody>
          <a:bodyPr/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7856" y="751344"/>
            <a:ext cx="852060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Общие выводы по практике: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анализ предметной области, спроектирована база данных (14 таблиц, 3НФ, уникальные фильтрованные индексы для активных рецептур/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техкарт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API на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ASP.NET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(12 контроллеров, единый формат ответа).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Разработаны три WPF-приложения:</a:t>
            </a:r>
          </a:p>
          <a:p>
            <a:pPr lvl="1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управление рецептурами,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техкартами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заказами, партиями, отчётами.</a:t>
            </a:r>
          </a:p>
          <a:p>
            <a:pPr lvl="1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Лаборант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контроль качества сырья и продукции, испытания, принятие решений.</a:t>
            </a:r>
          </a:p>
          <a:p>
            <a:pPr lvl="1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Аппаратчик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пошаговое выполнение партии, ввод фактических данных, телеметрия экструдера.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модули успешно интегрированы через единый API.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Разработано 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 тестов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(40 ручных + 30 модульных + 10 интеграционных), негативные сценарии – 22,5%.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Проведена отладка, все 8 выявленных ошибок исправлены.</a:t>
            </a:r>
          </a:p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Чего удалось достичь: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Полностью рабочая система «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АгроКонтроль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для автоматизации производства средств защиты растений. Все модули стабильно работают и корректно взаимодействуют. Система готова к опытной эксплуатации.</a:t>
            </a:r>
          </a:p>
        </p:txBody>
      </p:sp>
    </p:spTree>
    <p:extLst>
      <p:ext uri="{BB962C8B-B14F-4D97-AF65-F5344CB8AC3E}">
        <p14:creationId xmlns:p14="http://schemas.microsoft.com/office/powerpoint/2010/main" val="264879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E970D0-FFA6-1231-790A-1CBBE4D10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-171400"/>
            <a:ext cx="8229600" cy="1143000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QR-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16B4EB1-FD60-1CC9-75CB-7C12934155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469" y="764704"/>
            <a:ext cx="5945061" cy="594506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30725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1327</Words>
  <Application>Microsoft Office PowerPoint</Application>
  <PresentationFormat>Экран (4:3)</PresentationFormat>
  <Paragraphs>272</Paragraphs>
  <Slides>15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Times New Roman</vt:lpstr>
      <vt:lpstr>Тема Office</vt:lpstr>
      <vt:lpstr>Отчет по учебной практике  ПМ.02 Осуществление интеграции программных модулей</vt:lpstr>
      <vt:lpstr>База практики</vt:lpstr>
      <vt:lpstr>План практики</vt:lpstr>
      <vt:lpstr>Рабочее место</vt:lpstr>
      <vt:lpstr> </vt:lpstr>
      <vt:lpstr> </vt:lpstr>
      <vt:lpstr> </vt:lpstr>
      <vt:lpstr> </vt:lpstr>
      <vt:lpstr> </vt:lpstr>
      <vt:lpstr> </vt:lpstr>
      <vt:lpstr> </vt:lpstr>
      <vt:lpstr> </vt:lpstr>
      <vt:lpstr> </vt:lpstr>
      <vt:lpstr>Заключение</vt:lpstr>
      <vt:lpstr>QR-код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учебной практике  ПМ.02 Осуществление интеграции программных модулей</dc:title>
  <dc:creator>Prepod_1</dc:creator>
  <cp:lastModifiedBy>Дима Исупов</cp:lastModifiedBy>
  <cp:revision>4</cp:revision>
  <dcterms:created xsi:type="dcterms:W3CDTF">2023-05-12T10:02:04Z</dcterms:created>
  <dcterms:modified xsi:type="dcterms:W3CDTF">2026-05-18T09:33:27Z</dcterms:modified>
</cp:coreProperties>
</file>